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aleway"/>
      <p:regular r:id="rId38"/>
      <p:bold r:id="rId39"/>
      <p:italic r:id="rId40"/>
      <p:boldItalic r:id="rId41"/>
    </p:embeddedFont>
    <p:embeddedFont>
      <p:font typeface="Lato"/>
      <p:regular r:id="rId42"/>
      <p:bold r:id="rId43"/>
      <p:italic r:id="rId44"/>
      <p:boldItalic r:id="rId45"/>
    </p:embeddedFont>
    <p:embeddedFont>
      <p:font typeface="Lato Black"/>
      <p:bold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italic.fntdata"/><Relationship Id="rId20" Type="http://schemas.openxmlformats.org/officeDocument/2006/relationships/slide" Target="slides/slide15.xml"/><Relationship Id="rId42" Type="http://schemas.openxmlformats.org/officeDocument/2006/relationships/font" Target="fonts/Lato-regular.fntdata"/><Relationship Id="rId41" Type="http://schemas.openxmlformats.org/officeDocument/2006/relationships/font" Target="fonts/Raleway-boldItalic.fntdata"/><Relationship Id="rId22" Type="http://schemas.openxmlformats.org/officeDocument/2006/relationships/slide" Target="slides/slide17.xml"/><Relationship Id="rId44" Type="http://schemas.openxmlformats.org/officeDocument/2006/relationships/font" Target="fonts/Lato-italic.fntdata"/><Relationship Id="rId21" Type="http://schemas.openxmlformats.org/officeDocument/2006/relationships/slide" Target="slides/slide16.xml"/><Relationship Id="rId43" Type="http://schemas.openxmlformats.org/officeDocument/2006/relationships/font" Target="fonts/Lato-bold.fntdata"/><Relationship Id="rId24" Type="http://schemas.openxmlformats.org/officeDocument/2006/relationships/slide" Target="slides/slide19.xml"/><Relationship Id="rId46" Type="http://schemas.openxmlformats.org/officeDocument/2006/relationships/font" Target="fonts/LatoBlack-bold.fntdata"/><Relationship Id="rId23" Type="http://schemas.openxmlformats.org/officeDocument/2006/relationships/slide" Target="slides/slide18.xml"/><Relationship Id="rId45"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LatoBlack-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bold.fntdata"/><Relationship Id="rId16" Type="http://schemas.openxmlformats.org/officeDocument/2006/relationships/slide" Target="slides/slide11.xml"/><Relationship Id="rId38" Type="http://schemas.openxmlformats.org/officeDocument/2006/relationships/font" Target="fonts/Raleway-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de2b9ca2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de2b9ca2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de2b9ca2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de2b9ca2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de2b9ca2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de2b9ca2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de2b9ca2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de2b9ca2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de2b9ca2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de2b9ca2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de2b9ca2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de2b9ca2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de2b9ca2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bde2b9ca2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de2b9ca2a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de2b9ca2a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de2b9ca2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de2b9ca2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de2b9ca2a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bde2b9ca2a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de2b9ca2a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de2b9ca2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b41528b6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bb41528b6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b41528b6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b41528b6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b41528b6d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bb41528b6d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b41528b6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bb41528b6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b41528b6d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b41528b6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b41528b6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b41528b6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bb41528b6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bb41528b6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b41528b6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bb41528b6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b41528b6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bb41528b6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b41528b6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b41528b6d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b41528b6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bb41528b6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b41528b6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bb41528b6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b41528b6d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bb41528b6d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b41528b6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b41528b6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b41528b6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bb41528b6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b41528b6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b41528b6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bb41528b6d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bb41528b6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b41528b6d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bb41528b6d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b41528b6d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bb41528b6d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c74639f3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bc74639f3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Clr>
                <a:schemeClr val="dk2"/>
              </a:buClr>
              <a:buSzPts val="1100"/>
              <a:buFont typeface="Arial"/>
              <a:buNone/>
            </a:pPr>
            <a:r>
              <a:rPr lang="en-GB" sz="3000">
                <a:latin typeface="Arial"/>
                <a:ea typeface="Arial"/>
                <a:cs typeface="Arial"/>
                <a:sym typeface="Arial"/>
              </a:rPr>
              <a:t>Employee Attrition Analysis and Prediction</a:t>
            </a:r>
            <a:endParaRPr sz="5700"/>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GB" sz="2000">
                <a:latin typeface="Lato Black"/>
                <a:ea typeface="Lato Black"/>
                <a:cs typeface="Lato Black"/>
                <a:sym typeface="Lato Black"/>
              </a:rPr>
              <a:t>Naveenkumar Sivakumar </a:t>
            </a:r>
            <a:endParaRPr sz="2000">
              <a:latin typeface="Lato Black"/>
              <a:ea typeface="Lato Black"/>
              <a:cs typeface="Lato Black"/>
              <a:sym typeface="Lat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12758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990"/>
              <a:buFont typeface="Calibri"/>
              <a:buNone/>
            </a:pPr>
            <a:r>
              <a:rPr lang="en-GB" sz="2500">
                <a:latin typeface="Calibri"/>
                <a:ea typeface="Calibri"/>
                <a:cs typeface="Calibri"/>
                <a:sym typeface="Calibri"/>
              </a:rPr>
              <a:t>WHY IS EMPLOYEE ATTRITION IMPORTANT?</a:t>
            </a:r>
            <a:endParaRPr sz="2500">
              <a:latin typeface="Calibri"/>
              <a:ea typeface="Calibri"/>
              <a:cs typeface="Calibri"/>
              <a:sym typeface="Calibri"/>
            </a:endParaRPr>
          </a:p>
          <a:p>
            <a:pPr indent="0" lvl="0" marL="0" rtl="0" algn="l">
              <a:spcBef>
                <a:spcPts val="0"/>
              </a:spcBef>
              <a:spcAft>
                <a:spcPts val="0"/>
              </a:spcAft>
              <a:buSzPts val="990"/>
              <a:buNone/>
            </a:pPr>
            <a:r>
              <a:t/>
            </a:r>
            <a:endParaRPr sz="2340"/>
          </a:p>
        </p:txBody>
      </p:sp>
      <p:sp>
        <p:nvSpPr>
          <p:cNvPr id="93" name="Google Shape;93;p14"/>
          <p:cNvSpPr txBox="1"/>
          <p:nvPr>
            <p:ph idx="1" type="body"/>
          </p:nvPr>
        </p:nvSpPr>
        <p:spPr>
          <a:xfrm>
            <a:off x="729450" y="2078875"/>
            <a:ext cx="7688700" cy="28977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b="1" lang="en-GB" sz="2500">
                <a:solidFill>
                  <a:srgbClr val="000000"/>
                </a:solidFill>
                <a:latin typeface="Arial"/>
                <a:ea typeface="Arial"/>
                <a:cs typeface="Arial"/>
                <a:sym typeface="Arial"/>
              </a:rPr>
              <a:t>High Costs:</a:t>
            </a:r>
            <a:r>
              <a:rPr lang="en-GB" sz="2500">
                <a:solidFill>
                  <a:srgbClr val="000000"/>
                </a:solidFill>
                <a:latin typeface="Arial"/>
                <a:ea typeface="Arial"/>
                <a:cs typeface="Arial"/>
                <a:sym typeface="Arial"/>
              </a:rPr>
              <a:t> Replacing a worker costs significantly more than keeping one.</a:t>
            </a:r>
            <a:endParaRPr sz="2500">
              <a:solidFill>
                <a:srgbClr val="000000"/>
              </a:solidFill>
              <a:latin typeface="Arial"/>
              <a:ea typeface="Arial"/>
              <a:cs typeface="Arial"/>
              <a:sym typeface="Arial"/>
            </a:endParaRPr>
          </a:p>
          <a:p>
            <a:pPr indent="0" lvl="0" marL="0" rtl="0" algn="l">
              <a:spcBef>
                <a:spcPts val="1200"/>
              </a:spcBef>
              <a:spcAft>
                <a:spcPts val="0"/>
              </a:spcAft>
              <a:buNone/>
            </a:pPr>
            <a:r>
              <a:rPr b="1" lang="en-GB" sz="2500">
                <a:solidFill>
                  <a:srgbClr val="000000"/>
                </a:solidFill>
                <a:latin typeface="Arial"/>
                <a:ea typeface="Arial"/>
                <a:cs typeface="Arial"/>
                <a:sym typeface="Arial"/>
              </a:rPr>
              <a:t>Lost Knowledge:</a:t>
            </a:r>
            <a:r>
              <a:rPr lang="en-GB" sz="2500">
                <a:solidFill>
                  <a:srgbClr val="000000"/>
                </a:solidFill>
                <a:latin typeface="Arial"/>
                <a:ea typeface="Arial"/>
                <a:cs typeface="Arial"/>
                <a:sym typeface="Arial"/>
              </a:rPr>
              <a:t> Critical "know-how" and skills walk out the door.</a:t>
            </a:r>
            <a:endParaRPr sz="2500">
              <a:solidFill>
                <a:srgbClr val="000000"/>
              </a:solidFill>
              <a:latin typeface="Arial"/>
              <a:ea typeface="Arial"/>
              <a:cs typeface="Arial"/>
              <a:sym typeface="Arial"/>
            </a:endParaRPr>
          </a:p>
          <a:p>
            <a:pPr indent="0" lvl="0" marL="0" rtl="0" algn="l">
              <a:spcBef>
                <a:spcPts val="1200"/>
              </a:spcBef>
              <a:spcAft>
                <a:spcPts val="0"/>
              </a:spcAft>
              <a:buNone/>
            </a:pPr>
            <a:r>
              <a:rPr b="1" lang="en-GB" sz="2500">
                <a:solidFill>
                  <a:srgbClr val="000000"/>
                </a:solidFill>
                <a:latin typeface="Arial"/>
                <a:ea typeface="Arial"/>
                <a:cs typeface="Arial"/>
                <a:sym typeface="Arial"/>
              </a:rPr>
              <a:t>Lower Productivity:</a:t>
            </a:r>
            <a:r>
              <a:rPr lang="en-GB" sz="2500">
                <a:solidFill>
                  <a:srgbClr val="000000"/>
                </a:solidFill>
                <a:latin typeface="Arial"/>
                <a:ea typeface="Arial"/>
                <a:cs typeface="Arial"/>
                <a:sym typeface="Arial"/>
              </a:rPr>
              <a:t> Teams slow down while waiting for and training new hires.</a:t>
            </a:r>
            <a:endParaRPr sz="2500">
              <a:solidFill>
                <a:srgbClr val="000000"/>
              </a:solidFill>
              <a:latin typeface="Arial"/>
              <a:ea typeface="Arial"/>
              <a:cs typeface="Arial"/>
              <a:sym typeface="Arial"/>
            </a:endParaRPr>
          </a:p>
          <a:p>
            <a:pPr indent="0" lvl="0" marL="0" rtl="0" algn="l">
              <a:spcBef>
                <a:spcPts val="1200"/>
              </a:spcBef>
              <a:spcAft>
                <a:spcPts val="0"/>
              </a:spcAft>
              <a:buNone/>
            </a:pPr>
            <a:r>
              <a:rPr b="1" lang="en-GB" sz="2500">
                <a:solidFill>
                  <a:srgbClr val="000000"/>
                </a:solidFill>
                <a:latin typeface="Arial"/>
                <a:ea typeface="Arial"/>
                <a:cs typeface="Arial"/>
                <a:sym typeface="Arial"/>
              </a:rPr>
              <a:t>Team Burnout:</a:t>
            </a:r>
            <a:r>
              <a:rPr lang="en-GB" sz="2500">
                <a:solidFill>
                  <a:srgbClr val="000000"/>
                </a:solidFill>
                <a:latin typeface="Arial"/>
                <a:ea typeface="Arial"/>
                <a:cs typeface="Arial"/>
                <a:sym typeface="Arial"/>
              </a:rPr>
              <a:t> Remaining staff get overworked, leading to lower morale.</a:t>
            </a:r>
            <a:endParaRPr sz="2500">
              <a:solidFill>
                <a:srgbClr val="000000"/>
              </a:solidFill>
              <a:latin typeface="Arial"/>
              <a:ea typeface="Arial"/>
              <a:cs typeface="Arial"/>
              <a:sym typeface="Arial"/>
            </a:endParaRPr>
          </a:p>
          <a:p>
            <a:pPr indent="0" lvl="0" marL="0" rtl="0" algn="l">
              <a:spcBef>
                <a:spcPts val="1200"/>
              </a:spcBef>
              <a:spcAft>
                <a:spcPts val="0"/>
              </a:spcAft>
              <a:buNone/>
            </a:pPr>
            <a:r>
              <a:rPr b="1" lang="en-GB" sz="2500">
                <a:solidFill>
                  <a:srgbClr val="000000"/>
                </a:solidFill>
                <a:latin typeface="Arial"/>
                <a:ea typeface="Arial"/>
                <a:cs typeface="Arial"/>
                <a:sym typeface="Arial"/>
              </a:rPr>
              <a:t>Damaged Reputation:</a:t>
            </a:r>
            <a:r>
              <a:rPr lang="en-GB" sz="2500">
                <a:solidFill>
                  <a:srgbClr val="000000"/>
                </a:solidFill>
                <a:latin typeface="Arial"/>
                <a:ea typeface="Arial"/>
                <a:cs typeface="Arial"/>
                <a:sym typeface="Arial"/>
              </a:rPr>
              <a:t> High turnover makes it harder to hire great people.</a:t>
            </a:r>
            <a:endParaRPr sz="2500">
              <a:solidFill>
                <a:srgbClr val="000000"/>
              </a:solidFill>
              <a:latin typeface="Arial"/>
              <a:ea typeface="Arial"/>
              <a:cs typeface="Arial"/>
              <a:sym typeface="Arial"/>
            </a:endParaRPr>
          </a:p>
          <a:p>
            <a:pPr indent="0" lvl="0" marL="0" rtl="0" algn="l">
              <a:spcBef>
                <a:spcPts val="1200"/>
              </a:spcBef>
              <a:spcAft>
                <a:spcPts val="0"/>
              </a:spcAft>
              <a:buNone/>
            </a:pPr>
            <a:r>
              <a:rPr b="1" lang="en-GB" sz="2500">
                <a:solidFill>
                  <a:srgbClr val="000000"/>
                </a:solidFill>
                <a:latin typeface="Arial"/>
                <a:ea typeface="Arial"/>
                <a:cs typeface="Arial"/>
                <a:sym typeface="Arial"/>
              </a:rPr>
              <a:t>Customer Impact:</a:t>
            </a:r>
            <a:r>
              <a:rPr lang="en-GB" sz="2500">
                <a:solidFill>
                  <a:srgbClr val="000000"/>
                </a:solidFill>
                <a:latin typeface="Arial"/>
                <a:ea typeface="Arial"/>
                <a:cs typeface="Arial"/>
                <a:sym typeface="Arial"/>
              </a:rPr>
              <a:t> Inconsistent service leads to unhappy clients</a:t>
            </a:r>
            <a:r>
              <a:rPr lang="en-GB" sz="2900">
                <a:solidFill>
                  <a:srgbClr val="000000"/>
                </a:solidFill>
                <a:latin typeface="Arial"/>
                <a:ea typeface="Arial"/>
                <a:cs typeface="Arial"/>
                <a:sym typeface="Arial"/>
              </a:rPr>
              <a:t>.</a:t>
            </a:r>
            <a:endParaRPr sz="29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200">
                <a:solidFill>
                  <a:srgbClr val="000000"/>
                </a:solidFill>
                <a:latin typeface="Arial"/>
                <a:ea typeface="Arial"/>
                <a:cs typeface="Arial"/>
                <a:sym typeface="Arial"/>
              </a:rPr>
              <a:t>Project Overview: Addressing Employee Attrition</a:t>
            </a:r>
            <a:endParaRPr sz="22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99" name="Google Shape;99;p15"/>
          <p:cNvSpPr txBox="1"/>
          <p:nvPr>
            <p:ph idx="1" type="body"/>
          </p:nvPr>
        </p:nvSpPr>
        <p:spPr>
          <a:xfrm>
            <a:off x="729450" y="2078875"/>
            <a:ext cx="7688700" cy="265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solidFill>
                  <a:srgbClr val="000000"/>
                </a:solidFill>
                <a:latin typeface="Arial"/>
                <a:ea typeface="Arial"/>
                <a:cs typeface="Arial"/>
                <a:sym typeface="Arial"/>
              </a:rPr>
              <a:t>The Problem:</a:t>
            </a:r>
            <a:r>
              <a:rPr lang="en-GB" sz="1400">
                <a:solidFill>
                  <a:srgbClr val="000000"/>
                </a:solidFill>
                <a:latin typeface="Arial"/>
                <a:ea typeface="Arial"/>
                <a:cs typeface="Arial"/>
                <a:sym typeface="Arial"/>
              </a:rPr>
              <a:t> High turnover increases costs and disrupts team productivity.</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The Goal:</a:t>
            </a:r>
            <a:r>
              <a:rPr lang="en-GB" sz="1400">
                <a:solidFill>
                  <a:srgbClr val="000000"/>
                </a:solidFill>
                <a:latin typeface="Arial"/>
                <a:ea typeface="Arial"/>
                <a:cs typeface="Arial"/>
                <a:sym typeface="Arial"/>
              </a:rPr>
              <a:t> Identify why employees leave and predict who might be at risk.</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The Method:</a:t>
            </a:r>
            <a:r>
              <a:rPr lang="en-GB" sz="1400">
                <a:solidFill>
                  <a:srgbClr val="000000"/>
                </a:solidFill>
                <a:latin typeface="Arial"/>
                <a:ea typeface="Arial"/>
                <a:cs typeface="Arial"/>
                <a:sym typeface="Arial"/>
              </a:rPr>
              <a:t> Analyze workforce data to find the "key drivers" of attrition.</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The Outcome:</a:t>
            </a:r>
            <a:r>
              <a:rPr lang="en-GB" sz="1400">
                <a:solidFill>
                  <a:srgbClr val="000000"/>
                </a:solidFill>
                <a:latin typeface="Arial"/>
                <a:ea typeface="Arial"/>
                <a:cs typeface="Arial"/>
                <a:sym typeface="Arial"/>
              </a:rPr>
              <a:t> Build predictive models to help management take action </a:t>
            </a:r>
            <a:r>
              <a:rPr i="1" lang="en-GB" sz="1400">
                <a:solidFill>
                  <a:srgbClr val="000000"/>
                </a:solidFill>
                <a:latin typeface="Arial"/>
                <a:ea typeface="Arial"/>
                <a:cs typeface="Arial"/>
                <a:sym typeface="Arial"/>
              </a:rPr>
              <a:t>before</a:t>
            </a:r>
            <a:r>
              <a:rPr lang="en-GB" sz="1400">
                <a:solidFill>
                  <a:srgbClr val="000000"/>
                </a:solidFill>
                <a:latin typeface="Arial"/>
                <a:ea typeface="Arial"/>
                <a:cs typeface="Arial"/>
                <a:sym typeface="Arial"/>
              </a:rPr>
              <a:t> people quit.</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GB" sz="1400">
                <a:solidFill>
                  <a:srgbClr val="000000"/>
                </a:solidFill>
                <a:latin typeface="Arial"/>
                <a:ea typeface="Arial"/>
                <a:cs typeface="Arial"/>
                <a:sym typeface="Arial"/>
              </a:rPr>
              <a:t>The Value:</a:t>
            </a:r>
            <a:r>
              <a:rPr lang="en-GB" sz="1400">
                <a:solidFill>
                  <a:srgbClr val="000000"/>
                </a:solidFill>
                <a:latin typeface="Arial"/>
                <a:ea typeface="Arial"/>
                <a:cs typeface="Arial"/>
                <a:sym typeface="Arial"/>
              </a:rPr>
              <a:t> Shift from reactive hiring to proactive employee retention.</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p:nvPr/>
        </p:nvSpPr>
        <p:spPr>
          <a:xfrm>
            <a:off x="609600" y="124968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 name="Google Shape;105;p16"/>
          <p:cNvSpPr/>
          <p:nvPr/>
        </p:nvSpPr>
        <p:spPr>
          <a:xfrm>
            <a:off x="609600" y="242316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 name="Google Shape;106;p16"/>
          <p:cNvSpPr/>
          <p:nvPr/>
        </p:nvSpPr>
        <p:spPr>
          <a:xfrm>
            <a:off x="609600" y="359664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 name="Google Shape;107;p16"/>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Pillar 1: Identify At-Risk Employees</a:t>
            </a:r>
            <a:endParaRPr b="0" i="0" sz="2700" u="none" cap="none" strike="noStrike">
              <a:solidFill>
                <a:srgbClr val="000000"/>
              </a:solidFill>
              <a:latin typeface="Calibri"/>
              <a:ea typeface="Calibri"/>
              <a:cs typeface="Calibri"/>
              <a:sym typeface="Calibri"/>
            </a:endParaRPr>
          </a:p>
        </p:txBody>
      </p:sp>
      <p:sp>
        <p:nvSpPr>
          <p:cNvPr id="108" name="Google Shape;108;p16"/>
          <p:cNvSpPr/>
          <p:nvPr/>
        </p:nvSpPr>
        <p:spPr>
          <a:xfrm>
            <a:off x="876300" y="147828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800"/>
              <a:buFont typeface="Arial"/>
              <a:buNone/>
            </a:pPr>
            <a:r>
              <a:rPr b="1" i="0" lang="en-GB" sz="1800" u="none" cap="none" strike="noStrike">
                <a:solidFill>
                  <a:srgbClr val="38BDF8"/>
                </a:solidFill>
                <a:latin typeface="Arial"/>
                <a:ea typeface="Arial"/>
                <a:cs typeface="Arial"/>
                <a:sym typeface="Arial"/>
              </a:rPr>
              <a:t>📍 Recognition &amp; Engagement Gaps</a:t>
            </a:r>
            <a:endParaRPr b="0" i="0" sz="1800" u="none" cap="none" strike="noStrike">
              <a:solidFill>
                <a:srgbClr val="000000"/>
              </a:solidFill>
              <a:latin typeface="Calibri"/>
              <a:ea typeface="Calibri"/>
              <a:cs typeface="Calibri"/>
              <a:sym typeface="Calibri"/>
            </a:endParaRPr>
          </a:p>
        </p:txBody>
      </p:sp>
      <p:sp>
        <p:nvSpPr>
          <p:cNvPr id="109" name="Google Shape;109;p16"/>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Monitor engagement scores and recognition programs</a:t>
            </a:r>
            <a:endParaRPr b="0" i="0" sz="1200" u="none" cap="none" strike="noStrike">
              <a:solidFill>
                <a:srgbClr val="000000"/>
              </a:solidFill>
              <a:latin typeface="Calibri"/>
              <a:ea typeface="Calibri"/>
              <a:cs typeface="Calibri"/>
              <a:sym typeface="Calibri"/>
            </a:endParaRPr>
          </a:p>
        </p:txBody>
      </p:sp>
      <p:sp>
        <p:nvSpPr>
          <p:cNvPr id="110" name="Google Shape;110;p16"/>
          <p:cNvSpPr/>
          <p:nvPr/>
        </p:nvSpPr>
        <p:spPr>
          <a:xfrm>
            <a:off x="876300" y="265176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800"/>
              <a:buFont typeface="Arial"/>
              <a:buNone/>
            </a:pPr>
            <a:r>
              <a:rPr b="1" i="0" lang="en-GB" sz="1800" u="none" cap="none" strike="noStrike">
                <a:solidFill>
                  <a:srgbClr val="38BDF8"/>
                </a:solidFill>
                <a:latin typeface="Arial"/>
                <a:ea typeface="Arial"/>
                <a:cs typeface="Arial"/>
                <a:sym typeface="Arial"/>
              </a:rPr>
              <a:t>📈 Performance Trends</a:t>
            </a:r>
            <a:endParaRPr b="0" i="0" sz="1800" u="none" cap="none" strike="noStrike">
              <a:solidFill>
                <a:srgbClr val="000000"/>
              </a:solidFill>
              <a:latin typeface="Calibri"/>
              <a:ea typeface="Calibri"/>
              <a:cs typeface="Calibri"/>
              <a:sym typeface="Calibri"/>
            </a:endParaRPr>
          </a:p>
        </p:txBody>
      </p:sp>
      <p:sp>
        <p:nvSpPr>
          <p:cNvPr id="111" name="Google Shape;111;p16"/>
          <p:cNvSpPr/>
          <p:nvPr/>
        </p:nvSpPr>
        <p:spPr>
          <a:xfrm>
            <a:off x="876300" y="300228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Track performance changes and career progression signals</a:t>
            </a:r>
            <a:endParaRPr b="0" i="0" sz="1200" u="none" cap="none" strike="noStrike">
              <a:solidFill>
                <a:srgbClr val="000000"/>
              </a:solidFill>
              <a:latin typeface="Calibri"/>
              <a:ea typeface="Calibri"/>
              <a:cs typeface="Calibri"/>
              <a:sym typeface="Calibri"/>
            </a:endParaRPr>
          </a:p>
        </p:txBody>
      </p:sp>
      <p:sp>
        <p:nvSpPr>
          <p:cNvPr id="112" name="Google Shape;112;p16"/>
          <p:cNvSpPr/>
          <p:nvPr/>
        </p:nvSpPr>
        <p:spPr>
          <a:xfrm>
            <a:off x="876300" y="382524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800"/>
              <a:buFont typeface="Arial"/>
              <a:buNone/>
            </a:pPr>
            <a:r>
              <a:rPr b="1" i="0" lang="en-GB" sz="1800" u="none" cap="none" strike="noStrike">
                <a:solidFill>
                  <a:srgbClr val="38BDF8"/>
                </a:solidFill>
                <a:latin typeface="Arial"/>
                <a:ea typeface="Arial"/>
                <a:cs typeface="Arial"/>
                <a:sym typeface="Arial"/>
              </a:rPr>
              <a:t>💬 Exit Interviews &amp; Feedback</a:t>
            </a:r>
            <a:endParaRPr b="0" i="0" sz="1800" u="none" cap="none" strike="noStrike">
              <a:solidFill>
                <a:srgbClr val="000000"/>
              </a:solidFill>
              <a:latin typeface="Calibri"/>
              <a:ea typeface="Calibri"/>
              <a:cs typeface="Calibri"/>
              <a:sym typeface="Calibri"/>
            </a:endParaRPr>
          </a:p>
        </p:txBody>
      </p:sp>
      <p:sp>
        <p:nvSpPr>
          <p:cNvPr id="113" name="Google Shape;113;p16"/>
          <p:cNvSpPr/>
          <p:nvPr/>
        </p:nvSpPr>
        <p:spPr>
          <a:xfrm>
            <a:off x="876300" y="417576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Implement targeted strategies and interventions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p:nvPr/>
        </p:nvSpPr>
        <p:spPr>
          <a:xfrm>
            <a:off x="609600" y="124968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 name="Google Shape;119;p17"/>
          <p:cNvSpPr/>
          <p:nvPr/>
        </p:nvSpPr>
        <p:spPr>
          <a:xfrm>
            <a:off x="609600" y="242316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 name="Google Shape;120;p17"/>
          <p:cNvSpPr/>
          <p:nvPr/>
        </p:nvSpPr>
        <p:spPr>
          <a:xfrm>
            <a:off x="609600" y="359664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 name="Google Shape;121;p17"/>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Pillar 2: Cost Optimization</a:t>
            </a:r>
            <a:endParaRPr b="0" i="0" sz="2700" u="none" cap="none" strike="noStrike">
              <a:solidFill>
                <a:srgbClr val="000000"/>
              </a:solidFill>
              <a:latin typeface="Calibri"/>
              <a:ea typeface="Calibri"/>
              <a:cs typeface="Calibri"/>
              <a:sym typeface="Calibri"/>
            </a:endParaRPr>
          </a:p>
        </p:txBody>
      </p:sp>
      <p:sp>
        <p:nvSpPr>
          <p:cNvPr id="122" name="Google Shape;122;p17"/>
          <p:cNvSpPr/>
          <p:nvPr/>
        </p:nvSpPr>
        <p:spPr>
          <a:xfrm>
            <a:off x="876300" y="147828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800"/>
              <a:buFont typeface="Arial"/>
              <a:buNone/>
            </a:pPr>
            <a:r>
              <a:rPr b="1" i="0" lang="en-GB" sz="1800" u="none" cap="none" strike="noStrike">
                <a:solidFill>
                  <a:srgbClr val="10B981"/>
                </a:solidFill>
                <a:latin typeface="Arial"/>
                <a:ea typeface="Arial"/>
                <a:cs typeface="Arial"/>
                <a:sym typeface="Arial"/>
              </a:rPr>
              <a:t>🎓 Reduce Recruitment Costs</a:t>
            </a:r>
            <a:endParaRPr b="0" i="0" sz="1800" u="none" cap="none" strike="noStrike">
              <a:solidFill>
                <a:srgbClr val="000000"/>
              </a:solidFill>
              <a:latin typeface="Calibri"/>
              <a:ea typeface="Calibri"/>
              <a:cs typeface="Calibri"/>
              <a:sym typeface="Calibri"/>
            </a:endParaRPr>
          </a:p>
        </p:txBody>
      </p:sp>
      <p:sp>
        <p:nvSpPr>
          <p:cNvPr id="123" name="Google Shape;123;p17"/>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Improve time-to-hire through internal mobility and succession planning</a:t>
            </a:r>
            <a:endParaRPr b="0" i="0" sz="1200" u="none" cap="none" strike="noStrike">
              <a:solidFill>
                <a:srgbClr val="000000"/>
              </a:solidFill>
              <a:latin typeface="Calibri"/>
              <a:ea typeface="Calibri"/>
              <a:cs typeface="Calibri"/>
              <a:sym typeface="Calibri"/>
            </a:endParaRPr>
          </a:p>
        </p:txBody>
      </p:sp>
      <p:sp>
        <p:nvSpPr>
          <p:cNvPr id="124" name="Google Shape;124;p17"/>
          <p:cNvSpPr/>
          <p:nvPr/>
        </p:nvSpPr>
        <p:spPr>
          <a:xfrm>
            <a:off x="876300" y="265176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800"/>
              <a:buFont typeface="Arial"/>
              <a:buNone/>
            </a:pPr>
            <a:r>
              <a:rPr b="1" i="0" lang="en-GB" sz="1800" u="none" cap="none" strike="noStrike">
                <a:solidFill>
                  <a:srgbClr val="10B981"/>
                </a:solidFill>
                <a:latin typeface="Arial"/>
                <a:ea typeface="Arial"/>
                <a:cs typeface="Arial"/>
                <a:sym typeface="Arial"/>
              </a:rPr>
              <a:t>📚 Streamline Onboarding</a:t>
            </a:r>
            <a:endParaRPr b="0" i="0" sz="1800" u="none" cap="none" strike="noStrike">
              <a:solidFill>
                <a:srgbClr val="000000"/>
              </a:solidFill>
              <a:latin typeface="Calibri"/>
              <a:ea typeface="Calibri"/>
              <a:cs typeface="Calibri"/>
              <a:sym typeface="Calibri"/>
            </a:endParaRPr>
          </a:p>
        </p:txBody>
      </p:sp>
      <p:sp>
        <p:nvSpPr>
          <p:cNvPr id="125" name="Google Shape;125;p17"/>
          <p:cNvSpPr/>
          <p:nvPr/>
        </p:nvSpPr>
        <p:spPr>
          <a:xfrm>
            <a:off x="876300" y="300228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Accelerate productivity with structured training programs</a:t>
            </a:r>
            <a:endParaRPr b="0" i="0" sz="1200" u="none" cap="none" strike="noStrike">
              <a:solidFill>
                <a:srgbClr val="000000"/>
              </a:solidFill>
              <a:latin typeface="Calibri"/>
              <a:ea typeface="Calibri"/>
              <a:cs typeface="Calibri"/>
              <a:sym typeface="Calibri"/>
            </a:endParaRPr>
          </a:p>
        </p:txBody>
      </p:sp>
      <p:sp>
        <p:nvSpPr>
          <p:cNvPr id="126" name="Google Shape;126;p17"/>
          <p:cNvSpPr/>
          <p:nvPr/>
        </p:nvSpPr>
        <p:spPr>
          <a:xfrm>
            <a:off x="876300" y="382524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800"/>
              <a:buFont typeface="Arial"/>
              <a:buNone/>
            </a:pPr>
            <a:r>
              <a:rPr b="1" i="0" lang="en-GB" sz="1800" u="none" cap="none" strike="noStrike">
                <a:solidFill>
                  <a:srgbClr val="10B981"/>
                </a:solidFill>
                <a:latin typeface="Arial"/>
                <a:ea typeface="Arial"/>
                <a:cs typeface="Arial"/>
                <a:sym typeface="Arial"/>
              </a:rPr>
              <a:t>💡 Minimize Attrition Impact</a:t>
            </a:r>
            <a:endParaRPr b="0" i="0" sz="1800" u="none" cap="none" strike="noStrike">
              <a:solidFill>
                <a:srgbClr val="000000"/>
              </a:solidFill>
              <a:latin typeface="Calibri"/>
              <a:ea typeface="Calibri"/>
              <a:cs typeface="Calibri"/>
              <a:sym typeface="Calibri"/>
            </a:endParaRPr>
          </a:p>
        </p:txBody>
      </p:sp>
      <p:sp>
        <p:nvSpPr>
          <p:cNvPr id="127" name="Google Shape;127;p17"/>
          <p:cNvSpPr/>
          <p:nvPr/>
        </p:nvSpPr>
        <p:spPr>
          <a:xfrm>
            <a:off x="876300" y="417576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Retain top performers through career development and benefits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p:nvPr/>
        </p:nvSpPr>
        <p:spPr>
          <a:xfrm>
            <a:off x="609600" y="124968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18"/>
          <p:cNvSpPr/>
          <p:nvPr/>
        </p:nvSpPr>
        <p:spPr>
          <a:xfrm>
            <a:off x="609600" y="242316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 name="Google Shape;134;p18"/>
          <p:cNvSpPr/>
          <p:nvPr/>
        </p:nvSpPr>
        <p:spPr>
          <a:xfrm>
            <a:off x="609600" y="359664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 name="Google Shape;135;p18"/>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Pillar 3: Workforce Planning</a:t>
            </a:r>
            <a:endParaRPr b="0" i="0" sz="2700" u="none" cap="none" strike="noStrike">
              <a:solidFill>
                <a:srgbClr val="000000"/>
              </a:solidFill>
              <a:latin typeface="Calibri"/>
              <a:ea typeface="Calibri"/>
              <a:cs typeface="Calibri"/>
              <a:sym typeface="Calibri"/>
            </a:endParaRPr>
          </a:p>
        </p:txBody>
      </p:sp>
      <p:sp>
        <p:nvSpPr>
          <p:cNvPr id="136" name="Google Shape;136;p18"/>
          <p:cNvSpPr/>
          <p:nvPr/>
        </p:nvSpPr>
        <p:spPr>
          <a:xfrm>
            <a:off x="876300" y="147828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9E0B"/>
              </a:buClr>
              <a:buSzPts val="1800"/>
              <a:buFont typeface="Arial"/>
              <a:buNone/>
            </a:pPr>
            <a:r>
              <a:rPr b="1" i="0" lang="en-GB" sz="1800" u="none" cap="none" strike="noStrike">
                <a:solidFill>
                  <a:srgbClr val="F59E0B"/>
                </a:solidFill>
                <a:latin typeface="Arial"/>
                <a:ea typeface="Arial"/>
                <a:cs typeface="Arial"/>
                <a:sym typeface="Arial"/>
              </a:rPr>
              <a:t>🔮 Predictive Analytics</a:t>
            </a:r>
            <a:endParaRPr b="0" i="0" sz="1800" u="none" cap="none" strike="noStrike">
              <a:solidFill>
                <a:srgbClr val="000000"/>
              </a:solidFill>
              <a:latin typeface="Calibri"/>
              <a:ea typeface="Calibri"/>
              <a:cs typeface="Calibri"/>
              <a:sym typeface="Calibri"/>
            </a:endParaRPr>
          </a:p>
        </p:txBody>
      </p:sp>
      <p:sp>
        <p:nvSpPr>
          <p:cNvPr id="137" name="Google Shape;137;p18"/>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Use data-driven insights to forecast turnover and skill gaps</a:t>
            </a:r>
            <a:endParaRPr b="0" i="0" sz="1200" u="none" cap="none" strike="noStrike">
              <a:solidFill>
                <a:srgbClr val="000000"/>
              </a:solidFill>
              <a:latin typeface="Calibri"/>
              <a:ea typeface="Calibri"/>
              <a:cs typeface="Calibri"/>
              <a:sym typeface="Calibri"/>
            </a:endParaRPr>
          </a:p>
        </p:txBody>
      </p:sp>
      <p:sp>
        <p:nvSpPr>
          <p:cNvPr id="138" name="Google Shape;138;p18"/>
          <p:cNvSpPr/>
          <p:nvPr/>
        </p:nvSpPr>
        <p:spPr>
          <a:xfrm>
            <a:off x="876300" y="265176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9E0B"/>
              </a:buClr>
              <a:buSzPts val="1800"/>
              <a:buFont typeface="Arial"/>
              <a:buNone/>
            </a:pPr>
            <a:r>
              <a:rPr b="1" i="0" lang="en-GB" sz="1800" u="none" cap="none" strike="noStrike">
                <a:solidFill>
                  <a:srgbClr val="F59E0B"/>
                </a:solidFill>
                <a:latin typeface="Arial"/>
                <a:ea typeface="Arial"/>
                <a:cs typeface="Arial"/>
                <a:sym typeface="Arial"/>
              </a:rPr>
              <a:t>🎯 Strategic Alignment</a:t>
            </a:r>
            <a:endParaRPr b="0" i="0" sz="1800" u="none" cap="none" strike="noStrike">
              <a:solidFill>
                <a:srgbClr val="000000"/>
              </a:solidFill>
              <a:latin typeface="Calibri"/>
              <a:ea typeface="Calibri"/>
              <a:cs typeface="Calibri"/>
              <a:sym typeface="Calibri"/>
            </a:endParaRPr>
          </a:p>
        </p:txBody>
      </p:sp>
      <p:sp>
        <p:nvSpPr>
          <p:cNvPr id="139" name="Google Shape;139;p18"/>
          <p:cNvSpPr/>
          <p:nvPr/>
        </p:nvSpPr>
        <p:spPr>
          <a:xfrm>
            <a:off x="876300" y="300228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Align retention strategies with business goals and growth plans</a:t>
            </a:r>
            <a:endParaRPr b="0" i="0" sz="1200" u="none" cap="none" strike="noStrike">
              <a:solidFill>
                <a:srgbClr val="000000"/>
              </a:solidFill>
              <a:latin typeface="Calibri"/>
              <a:ea typeface="Calibri"/>
              <a:cs typeface="Calibri"/>
              <a:sym typeface="Calibri"/>
            </a:endParaRPr>
          </a:p>
        </p:txBody>
      </p:sp>
      <p:sp>
        <p:nvSpPr>
          <p:cNvPr id="140" name="Google Shape;140;p18"/>
          <p:cNvSpPr/>
          <p:nvPr/>
        </p:nvSpPr>
        <p:spPr>
          <a:xfrm>
            <a:off x="876300" y="382524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9E0B"/>
              </a:buClr>
              <a:buSzPts val="1800"/>
              <a:buFont typeface="Arial"/>
              <a:buNone/>
            </a:pPr>
            <a:r>
              <a:rPr b="1" i="0" lang="en-GB" sz="1800" u="none" cap="none" strike="noStrike">
                <a:solidFill>
                  <a:srgbClr val="F59E0B"/>
                </a:solidFill>
                <a:latin typeface="Arial"/>
                <a:ea typeface="Arial"/>
                <a:cs typeface="Arial"/>
                <a:sym typeface="Arial"/>
              </a:rPr>
              <a:t>😊 Employee Satisfaction</a:t>
            </a:r>
            <a:endParaRPr b="0" i="0" sz="1800" u="none" cap="none" strike="noStrike">
              <a:solidFill>
                <a:srgbClr val="000000"/>
              </a:solidFill>
              <a:latin typeface="Calibri"/>
              <a:ea typeface="Calibri"/>
              <a:cs typeface="Calibri"/>
              <a:sym typeface="Calibri"/>
            </a:endParaRPr>
          </a:p>
        </p:txBody>
      </p:sp>
      <p:sp>
        <p:nvSpPr>
          <p:cNvPr id="141" name="Google Shape;141;p18"/>
          <p:cNvSpPr/>
          <p:nvPr/>
        </p:nvSpPr>
        <p:spPr>
          <a:xfrm>
            <a:off x="876300" y="417576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Improve engagement through career development and culture</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9"/>
          <p:cNvSpPr txBox="1"/>
          <p:nvPr>
            <p:ph type="title"/>
          </p:nvPr>
        </p:nvSpPr>
        <p:spPr>
          <a:xfrm>
            <a:off x="727650" y="2441450"/>
            <a:ext cx="7688700" cy="535200"/>
          </a:xfrm>
          <a:prstGeom prst="rect">
            <a:avLst/>
          </a:prstGeom>
        </p:spPr>
        <p:txBody>
          <a:bodyPr anchorCtr="0" anchor="t" bIns="91425" lIns="91425" spcFirstLastPara="1" rIns="91425" wrap="square" tIns="91425">
            <a:noAutofit/>
          </a:bodyPr>
          <a:lstStyle/>
          <a:p>
            <a:pPr indent="0" lvl="0" marL="0" rtl="0" algn="ctr">
              <a:lnSpc>
                <a:spcPct val="120000"/>
              </a:lnSpc>
              <a:spcBef>
                <a:spcPts val="0"/>
              </a:spcBef>
              <a:spcAft>
                <a:spcPts val="0"/>
              </a:spcAft>
              <a:buClr>
                <a:srgbClr val="38BDF8"/>
              </a:buClr>
              <a:buSzPts val="990"/>
              <a:buFont typeface="Arial"/>
              <a:buNone/>
            </a:pPr>
            <a:r>
              <a:rPr lang="en-GB" sz="2530">
                <a:solidFill>
                  <a:srgbClr val="38BDF8"/>
                </a:solidFill>
                <a:latin typeface="Arial"/>
                <a:ea typeface="Arial"/>
                <a:cs typeface="Arial"/>
                <a:sym typeface="Arial"/>
              </a:rPr>
              <a:t>ML Workflow: End-to-End Pipeline</a:t>
            </a:r>
            <a:endParaRPr sz="2530">
              <a:solidFill>
                <a:srgbClr val="000000"/>
              </a:solidFill>
              <a:latin typeface="Calibri"/>
              <a:ea typeface="Calibri"/>
              <a:cs typeface="Calibri"/>
              <a:sym typeface="Calibri"/>
            </a:endParaRPr>
          </a:p>
          <a:p>
            <a:pPr indent="0" lvl="0" marL="0" rtl="0" algn="l">
              <a:spcBef>
                <a:spcPts val="0"/>
              </a:spcBef>
              <a:spcAft>
                <a:spcPts val="0"/>
              </a:spcAft>
              <a:buSzPts val="990"/>
              <a:buNone/>
            </a:pPr>
            <a:r>
              <a:t/>
            </a:r>
            <a:endParaRPr sz="234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609600" y="124968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2" name="Google Shape;152;p20"/>
          <p:cNvSpPr/>
          <p:nvPr/>
        </p:nvSpPr>
        <p:spPr>
          <a:xfrm>
            <a:off x="609600" y="242316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3" name="Google Shape;153;p20"/>
          <p:cNvSpPr/>
          <p:nvPr/>
        </p:nvSpPr>
        <p:spPr>
          <a:xfrm>
            <a:off x="609600" y="359664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4" name="Google Shape;154;p20"/>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Phase 1: Data Collection &amp; Preprocessing</a:t>
            </a:r>
            <a:endParaRPr b="0" i="0" sz="2700" u="none" cap="none" strike="noStrike">
              <a:solidFill>
                <a:srgbClr val="000000"/>
              </a:solidFill>
              <a:latin typeface="Calibri"/>
              <a:ea typeface="Calibri"/>
              <a:cs typeface="Calibri"/>
              <a:sym typeface="Calibri"/>
            </a:endParaRPr>
          </a:p>
        </p:txBody>
      </p:sp>
      <p:sp>
        <p:nvSpPr>
          <p:cNvPr id="155" name="Google Shape;155;p20"/>
          <p:cNvSpPr/>
          <p:nvPr/>
        </p:nvSpPr>
        <p:spPr>
          <a:xfrm>
            <a:off x="876300" y="147828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800"/>
              <a:buFont typeface="Arial"/>
              <a:buNone/>
            </a:pPr>
            <a:r>
              <a:rPr b="1" i="0" lang="en-GB" sz="1800" u="none" cap="none" strike="noStrike">
                <a:solidFill>
                  <a:srgbClr val="38BDF8"/>
                </a:solidFill>
                <a:latin typeface="Arial"/>
                <a:ea typeface="Arial"/>
                <a:cs typeface="Arial"/>
                <a:sym typeface="Arial"/>
              </a:rPr>
              <a:t>📊 Data Sources</a:t>
            </a:r>
            <a:endParaRPr b="0" i="0" sz="1800" u="none" cap="none" strike="noStrike">
              <a:solidFill>
                <a:srgbClr val="000000"/>
              </a:solidFill>
              <a:latin typeface="Calibri"/>
              <a:ea typeface="Calibri"/>
              <a:cs typeface="Calibri"/>
              <a:sym typeface="Calibri"/>
            </a:endParaRPr>
          </a:p>
        </p:txBody>
      </p:sp>
      <p:sp>
        <p:nvSpPr>
          <p:cNvPr id="156" name="Google Shape;156;p20"/>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HR systems, payroll, performance records, employee demographics</a:t>
            </a:r>
            <a:endParaRPr b="0" i="0" sz="1200" u="none" cap="none" strike="noStrike">
              <a:solidFill>
                <a:srgbClr val="000000"/>
              </a:solidFill>
              <a:latin typeface="Calibri"/>
              <a:ea typeface="Calibri"/>
              <a:cs typeface="Calibri"/>
              <a:sym typeface="Calibri"/>
            </a:endParaRPr>
          </a:p>
        </p:txBody>
      </p:sp>
      <p:sp>
        <p:nvSpPr>
          <p:cNvPr id="157" name="Google Shape;157;p20"/>
          <p:cNvSpPr/>
          <p:nvPr/>
        </p:nvSpPr>
        <p:spPr>
          <a:xfrm>
            <a:off x="876300" y="265176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800"/>
              <a:buFont typeface="Arial"/>
              <a:buNone/>
            </a:pPr>
            <a:r>
              <a:rPr b="1" i="0" lang="en-GB" sz="1800" u="none" cap="none" strike="noStrike">
                <a:solidFill>
                  <a:srgbClr val="38BDF8"/>
                </a:solidFill>
                <a:latin typeface="Arial"/>
                <a:ea typeface="Arial"/>
                <a:cs typeface="Arial"/>
                <a:sym typeface="Arial"/>
              </a:rPr>
              <a:t>🧹 Data Cleaning</a:t>
            </a:r>
            <a:endParaRPr b="0" i="0" sz="1800" u="none" cap="none" strike="noStrike">
              <a:solidFill>
                <a:srgbClr val="000000"/>
              </a:solidFill>
              <a:latin typeface="Calibri"/>
              <a:ea typeface="Calibri"/>
              <a:cs typeface="Calibri"/>
              <a:sym typeface="Calibri"/>
            </a:endParaRPr>
          </a:p>
        </p:txBody>
      </p:sp>
      <p:sp>
        <p:nvSpPr>
          <p:cNvPr id="158" name="Google Shape;158;p20"/>
          <p:cNvSpPr/>
          <p:nvPr/>
        </p:nvSpPr>
        <p:spPr>
          <a:xfrm>
            <a:off x="876300" y="300228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Handle missing values, remove duplicates, fix outliers and inconsistencies</a:t>
            </a:r>
            <a:endParaRPr b="0" i="0" sz="1200" u="none" cap="none" strike="noStrike">
              <a:solidFill>
                <a:srgbClr val="000000"/>
              </a:solidFill>
              <a:latin typeface="Calibri"/>
              <a:ea typeface="Calibri"/>
              <a:cs typeface="Calibri"/>
              <a:sym typeface="Calibri"/>
            </a:endParaRPr>
          </a:p>
        </p:txBody>
      </p:sp>
      <p:sp>
        <p:nvSpPr>
          <p:cNvPr id="159" name="Google Shape;159;p20"/>
          <p:cNvSpPr/>
          <p:nvPr/>
        </p:nvSpPr>
        <p:spPr>
          <a:xfrm>
            <a:off x="876300" y="382524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800"/>
              <a:buFont typeface="Arial"/>
              <a:buNone/>
            </a:pPr>
            <a:r>
              <a:rPr b="1" i="0" lang="en-GB" sz="1800" u="none" cap="none" strike="noStrike">
                <a:solidFill>
                  <a:srgbClr val="38BDF8"/>
                </a:solidFill>
                <a:latin typeface="Arial"/>
                <a:ea typeface="Arial"/>
                <a:cs typeface="Arial"/>
                <a:sym typeface="Arial"/>
              </a:rPr>
              <a:t>⚖️ Data Preprocessing</a:t>
            </a:r>
            <a:endParaRPr b="0" i="0" sz="1800" u="none" cap="none" strike="noStrike">
              <a:solidFill>
                <a:srgbClr val="000000"/>
              </a:solidFill>
              <a:latin typeface="Calibri"/>
              <a:ea typeface="Calibri"/>
              <a:cs typeface="Calibri"/>
              <a:sym typeface="Calibri"/>
            </a:endParaRPr>
          </a:p>
        </p:txBody>
      </p:sp>
      <p:sp>
        <p:nvSpPr>
          <p:cNvPr id="160" name="Google Shape;160;p20"/>
          <p:cNvSpPr/>
          <p:nvPr/>
        </p:nvSpPr>
        <p:spPr>
          <a:xfrm>
            <a:off x="876300" y="417576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Normalize numerical data, encode categorical variables, balance classes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p:nvPr/>
        </p:nvSpPr>
        <p:spPr>
          <a:xfrm>
            <a:off x="609600" y="124968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6" name="Google Shape;166;p21"/>
          <p:cNvSpPr/>
          <p:nvPr/>
        </p:nvSpPr>
        <p:spPr>
          <a:xfrm>
            <a:off x="609600" y="242316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7" name="Google Shape;167;p21"/>
          <p:cNvSpPr/>
          <p:nvPr/>
        </p:nvSpPr>
        <p:spPr>
          <a:xfrm>
            <a:off x="609600" y="359664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8" name="Google Shape;168;p21"/>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Phase 2: Exploratory Data Analysis (EDA)</a:t>
            </a:r>
            <a:endParaRPr b="0" i="0" sz="2700" u="none" cap="none" strike="noStrike">
              <a:solidFill>
                <a:srgbClr val="000000"/>
              </a:solidFill>
              <a:latin typeface="Calibri"/>
              <a:ea typeface="Calibri"/>
              <a:cs typeface="Calibri"/>
              <a:sym typeface="Calibri"/>
            </a:endParaRPr>
          </a:p>
        </p:txBody>
      </p:sp>
      <p:sp>
        <p:nvSpPr>
          <p:cNvPr id="169" name="Google Shape;169;p21"/>
          <p:cNvSpPr/>
          <p:nvPr/>
        </p:nvSpPr>
        <p:spPr>
          <a:xfrm>
            <a:off x="876300" y="147828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6B6D4"/>
              </a:buClr>
              <a:buSzPts val="1800"/>
              <a:buFont typeface="Arial"/>
              <a:buNone/>
            </a:pPr>
            <a:r>
              <a:rPr b="1" i="0" lang="en-GB" sz="1800" u="none" cap="none" strike="noStrike">
                <a:solidFill>
                  <a:srgbClr val="06B6D4"/>
                </a:solidFill>
                <a:latin typeface="Arial"/>
                <a:ea typeface="Arial"/>
                <a:cs typeface="Arial"/>
                <a:sym typeface="Arial"/>
              </a:rPr>
              <a:t>🔍 Pattern Discovery</a:t>
            </a:r>
            <a:endParaRPr b="0" i="0" sz="1800" u="none" cap="none" strike="noStrike">
              <a:solidFill>
                <a:srgbClr val="000000"/>
              </a:solidFill>
              <a:latin typeface="Calibri"/>
              <a:ea typeface="Calibri"/>
              <a:cs typeface="Calibri"/>
              <a:sym typeface="Calibri"/>
            </a:endParaRPr>
          </a:p>
        </p:txBody>
      </p:sp>
      <p:sp>
        <p:nvSpPr>
          <p:cNvPr id="170" name="Google Shape;170;p21"/>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Identify attrition trends, distribution analysis, statistical summaries</a:t>
            </a:r>
            <a:endParaRPr b="0" i="0" sz="1200" u="none" cap="none" strike="noStrike">
              <a:solidFill>
                <a:srgbClr val="000000"/>
              </a:solidFill>
              <a:latin typeface="Calibri"/>
              <a:ea typeface="Calibri"/>
              <a:cs typeface="Calibri"/>
              <a:sym typeface="Calibri"/>
            </a:endParaRPr>
          </a:p>
        </p:txBody>
      </p:sp>
      <p:sp>
        <p:nvSpPr>
          <p:cNvPr id="171" name="Google Shape;171;p21"/>
          <p:cNvSpPr/>
          <p:nvPr/>
        </p:nvSpPr>
        <p:spPr>
          <a:xfrm>
            <a:off x="876300" y="265176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6B6D4"/>
              </a:buClr>
              <a:buSzPts val="1800"/>
              <a:buFont typeface="Arial"/>
              <a:buNone/>
            </a:pPr>
            <a:r>
              <a:rPr b="1" i="0" lang="en-GB" sz="1800" u="none" cap="none" strike="noStrike">
                <a:solidFill>
                  <a:srgbClr val="06B6D4"/>
                </a:solidFill>
                <a:latin typeface="Arial"/>
                <a:ea typeface="Arial"/>
                <a:cs typeface="Arial"/>
                <a:sym typeface="Arial"/>
              </a:rPr>
              <a:t>📈 Correlation Analysis</a:t>
            </a:r>
            <a:endParaRPr b="0" i="0" sz="1800" u="none" cap="none" strike="noStrike">
              <a:solidFill>
                <a:srgbClr val="000000"/>
              </a:solidFill>
              <a:latin typeface="Calibri"/>
              <a:ea typeface="Calibri"/>
              <a:cs typeface="Calibri"/>
              <a:sym typeface="Calibri"/>
            </a:endParaRPr>
          </a:p>
        </p:txBody>
      </p:sp>
      <p:sp>
        <p:nvSpPr>
          <p:cNvPr id="172" name="Google Shape;172;p21"/>
          <p:cNvSpPr/>
          <p:nvPr/>
        </p:nvSpPr>
        <p:spPr>
          <a:xfrm>
            <a:off x="876300" y="300228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Analyze relationships between features and attrition, identify key drivers</a:t>
            </a:r>
            <a:endParaRPr b="0" i="0" sz="1200" u="none" cap="none" strike="noStrike">
              <a:solidFill>
                <a:srgbClr val="000000"/>
              </a:solidFill>
              <a:latin typeface="Calibri"/>
              <a:ea typeface="Calibri"/>
              <a:cs typeface="Calibri"/>
              <a:sym typeface="Calibri"/>
            </a:endParaRPr>
          </a:p>
        </p:txBody>
      </p:sp>
      <p:sp>
        <p:nvSpPr>
          <p:cNvPr id="173" name="Google Shape;173;p21"/>
          <p:cNvSpPr/>
          <p:nvPr/>
        </p:nvSpPr>
        <p:spPr>
          <a:xfrm>
            <a:off x="876300" y="382524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6B6D4"/>
              </a:buClr>
              <a:buSzPts val="1800"/>
              <a:buFont typeface="Arial"/>
              <a:buNone/>
            </a:pPr>
            <a:r>
              <a:rPr b="1" i="0" lang="en-GB" sz="1800" u="none" cap="none" strike="noStrike">
                <a:solidFill>
                  <a:srgbClr val="06B6D4"/>
                </a:solidFill>
                <a:latin typeface="Arial"/>
                <a:ea typeface="Arial"/>
                <a:cs typeface="Arial"/>
                <a:sym typeface="Arial"/>
              </a:rPr>
              <a:t>📊 Visualization</a:t>
            </a:r>
            <a:endParaRPr b="0" i="0" sz="1800" u="none" cap="none" strike="noStrike">
              <a:solidFill>
                <a:srgbClr val="000000"/>
              </a:solidFill>
              <a:latin typeface="Calibri"/>
              <a:ea typeface="Calibri"/>
              <a:cs typeface="Calibri"/>
              <a:sym typeface="Calibri"/>
            </a:endParaRPr>
          </a:p>
        </p:txBody>
      </p:sp>
      <p:sp>
        <p:nvSpPr>
          <p:cNvPr id="174" name="Google Shape;174;p21"/>
          <p:cNvSpPr/>
          <p:nvPr/>
        </p:nvSpPr>
        <p:spPr>
          <a:xfrm>
            <a:off x="876300" y="417576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Create heatmaps, histograms, scatter plots to understand data patterns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p:nvPr/>
        </p:nvSpPr>
        <p:spPr>
          <a:xfrm>
            <a:off x="609600" y="124968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0" name="Google Shape;180;p22"/>
          <p:cNvSpPr/>
          <p:nvPr/>
        </p:nvSpPr>
        <p:spPr>
          <a:xfrm>
            <a:off x="609600" y="242316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1" name="Google Shape;181;p22"/>
          <p:cNvSpPr/>
          <p:nvPr/>
        </p:nvSpPr>
        <p:spPr>
          <a:xfrm>
            <a:off x="609600" y="359664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 name="Google Shape;182;p22"/>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Phase 3: Feature Engineering</a:t>
            </a:r>
            <a:endParaRPr b="0" i="0" sz="2700" u="none" cap="none" strike="noStrike">
              <a:solidFill>
                <a:srgbClr val="000000"/>
              </a:solidFill>
              <a:latin typeface="Calibri"/>
              <a:ea typeface="Calibri"/>
              <a:cs typeface="Calibri"/>
              <a:sym typeface="Calibri"/>
            </a:endParaRPr>
          </a:p>
        </p:txBody>
      </p:sp>
      <p:sp>
        <p:nvSpPr>
          <p:cNvPr id="183" name="Google Shape;183;p22"/>
          <p:cNvSpPr/>
          <p:nvPr/>
        </p:nvSpPr>
        <p:spPr>
          <a:xfrm>
            <a:off x="876300" y="147828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800"/>
              <a:buFont typeface="Arial"/>
              <a:buNone/>
            </a:pPr>
            <a:r>
              <a:rPr b="1" i="0" lang="en-GB" sz="1800" u="none" cap="none" strike="noStrike">
                <a:solidFill>
                  <a:srgbClr val="10B981"/>
                </a:solidFill>
                <a:latin typeface="Arial"/>
                <a:ea typeface="Arial"/>
                <a:cs typeface="Arial"/>
                <a:sym typeface="Arial"/>
              </a:rPr>
              <a:t>🏷️ Feature Creation</a:t>
            </a:r>
            <a:endParaRPr b="0" i="0" sz="1800" u="none" cap="none" strike="noStrike">
              <a:solidFill>
                <a:srgbClr val="000000"/>
              </a:solidFill>
              <a:latin typeface="Calibri"/>
              <a:ea typeface="Calibri"/>
              <a:cs typeface="Calibri"/>
              <a:sym typeface="Calibri"/>
            </a:endParaRPr>
          </a:p>
        </p:txBody>
      </p:sp>
      <p:sp>
        <p:nvSpPr>
          <p:cNvPr id="184" name="Google Shape;184;p22"/>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Tenure categories, engagement scores, work-life balance metrics</a:t>
            </a:r>
            <a:endParaRPr b="0" i="0" sz="1200" u="none" cap="none" strike="noStrike">
              <a:solidFill>
                <a:srgbClr val="000000"/>
              </a:solidFill>
              <a:latin typeface="Calibri"/>
              <a:ea typeface="Calibri"/>
              <a:cs typeface="Calibri"/>
              <a:sym typeface="Calibri"/>
            </a:endParaRPr>
          </a:p>
        </p:txBody>
      </p:sp>
      <p:sp>
        <p:nvSpPr>
          <p:cNvPr id="185" name="Google Shape;185;p22"/>
          <p:cNvSpPr/>
          <p:nvPr/>
        </p:nvSpPr>
        <p:spPr>
          <a:xfrm>
            <a:off x="876300" y="265176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800"/>
              <a:buFont typeface="Arial"/>
              <a:buNone/>
            </a:pPr>
            <a:r>
              <a:rPr b="1" i="0" lang="en-GB" sz="1800" u="none" cap="none" strike="noStrike">
                <a:solidFill>
                  <a:srgbClr val="10B981"/>
                </a:solidFill>
                <a:latin typeface="Arial"/>
                <a:ea typeface="Arial"/>
                <a:cs typeface="Arial"/>
                <a:sym typeface="Arial"/>
              </a:rPr>
              <a:t>🔧 Feature Transformation</a:t>
            </a:r>
            <a:endParaRPr b="0" i="0" sz="1800" u="none" cap="none" strike="noStrike">
              <a:solidFill>
                <a:srgbClr val="000000"/>
              </a:solidFill>
              <a:latin typeface="Calibri"/>
              <a:ea typeface="Calibri"/>
              <a:cs typeface="Calibri"/>
              <a:sym typeface="Calibri"/>
            </a:endParaRPr>
          </a:p>
        </p:txBody>
      </p:sp>
      <p:sp>
        <p:nvSpPr>
          <p:cNvPr id="186" name="Google Shape;186;p22"/>
          <p:cNvSpPr/>
          <p:nvPr/>
        </p:nvSpPr>
        <p:spPr>
          <a:xfrm>
            <a:off x="876300" y="300228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Scaling, normalization, log transformations, polynomial features</a:t>
            </a:r>
            <a:endParaRPr b="0" i="0" sz="1200" u="none" cap="none" strike="noStrike">
              <a:solidFill>
                <a:srgbClr val="000000"/>
              </a:solidFill>
              <a:latin typeface="Calibri"/>
              <a:ea typeface="Calibri"/>
              <a:cs typeface="Calibri"/>
              <a:sym typeface="Calibri"/>
            </a:endParaRPr>
          </a:p>
        </p:txBody>
      </p:sp>
      <p:sp>
        <p:nvSpPr>
          <p:cNvPr id="187" name="Google Shape;187;p22"/>
          <p:cNvSpPr/>
          <p:nvPr/>
        </p:nvSpPr>
        <p:spPr>
          <a:xfrm>
            <a:off x="876300" y="382524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B981"/>
              </a:buClr>
              <a:buSzPts val="1800"/>
              <a:buFont typeface="Arial"/>
              <a:buNone/>
            </a:pPr>
            <a:r>
              <a:rPr b="1" i="0" lang="en-GB" sz="1800" u="none" cap="none" strike="noStrike">
                <a:solidFill>
                  <a:srgbClr val="10B981"/>
                </a:solidFill>
                <a:latin typeface="Arial"/>
                <a:ea typeface="Arial"/>
                <a:cs typeface="Arial"/>
                <a:sym typeface="Arial"/>
              </a:rPr>
              <a:t>⭐ Feature Selection</a:t>
            </a:r>
            <a:endParaRPr b="0" i="0" sz="1800" u="none" cap="none" strike="noStrike">
              <a:solidFill>
                <a:srgbClr val="000000"/>
              </a:solidFill>
              <a:latin typeface="Calibri"/>
              <a:ea typeface="Calibri"/>
              <a:cs typeface="Calibri"/>
              <a:sym typeface="Calibri"/>
            </a:endParaRPr>
          </a:p>
        </p:txBody>
      </p:sp>
      <p:sp>
        <p:nvSpPr>
          <p:cNvPr id="188" name="Google Shape;188;p22"/>
          <p:cNvSpPr/>
          <p:nvPr/>
        </p:nvSpPr>
        <p:spPr>
          <a:xfrm>
            <a:off x="876300" y="417576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Select most relevant features using correlation and importance analysis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p:nvPr/>
        </p:nvSpPr>
        <p:spPr>
          <a:xfrm>
            <a:off x="609600" y="1249680"/>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4" name="Google Shape;194;p23"/>
          <p:cNvSpPr/>
          <p:nvPr/>
        </p:nvSpPr>
        <p:spPr>
          <a:xfrm>
            <a:off x="609600" y="242316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5" name="Google Shape;195;p23"/>
          <p:cNvSpPr/>
          <p:nvPr/>
        </p:nvSpPr>
        <p:spPr>
          <a:xfrm>
            <a:off x="609600" y="359664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6" name="Google Shape;196;p23"/>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Phase 4: Model Building &amp; Evaluation</a:t>
            </a:r>
            <a:endParaRPr b="0" i="0" sz="2700" u="none" cap="none" strike="noStrike">
              <a:solidFill>
                <a:srgbClr val="000000"/>
              </a:solidFill>
              <a:latin typeface="Calibri"/>
              <a:ea typeface="Calibri"/>
              <a:cs typeface="Calibri"/>
              <a:sym typeface="Calibri"/>
            </a:endParaRPr>
          </a:p>
        </p:txBody>
      </p:sp>
      <p:sp>
        <p:nvSpPr>
          <p:cNvPr id="197" name="Google Shape;197;p23"/>
          <p:cNvSpPr/>
          <p:nvPr/>
        </p:nvSpPr>
        <p:spPr>
          <a:xfrm>
            <a:off x="876300" y="1478280"/>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9E0B"/>
              </a:buClr>
              <a:buSzPts val="1800"/>
              <a:buFont typeface="Arial"/>
              <a:buNone/>
            </a:pPr>
            <a:r>
              <a:rPr b="1" i="0" lang="en-GB" sz="1800" u="none" cap="none" strike="noStrike">
                <a:solidFill>
                  <a:srgbClr val="F59E0B"/>
                </a:solidFill>
                <a:latin typeface="Arial"/>
                <a:ea typeface="Arial"/>
                <a:cs typeface="Arial"/>
                <a:sym typeface="Arial"/>
              </a:rPr>
              <a:t>🤖 Model Development</a:t>
            </a:r>
            <a:endParaRPr b="0" i="0" sz="1800" u="none" cap="none" strike="noStrike">
              <a:solidFill>
                <a:srgbClr val="000000"/>
              </a:solidFill>
              <a:latin typeface="Calibri"/>
              <a:ea typeface="Calibri"/>
              <a:cs typeface="Calibri"/>
              <a:sym typeface="Calibri"/>
            </a:endParaRPr>
          </a:p>
        </p:txBody>
      </p:sp>
      <p:sp>
        <p:nvSpPr>
          <p:cNvPr id="198" name="Google Shape;198;p23"/>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Logistic Regression, Decision Trees, Random Forests, Gradient Boosting</a:t>
            </a:r>
            <a:endParaRPr b="0" i="0" sz="1200" u="none" cap="none" strike="noStrike">
              <a:solidFill>
                <a:srgbClr val="000000"/>
              </a:solidFill>
              <a:latin typeface="Calibri"/>
              <a:ea typeface="Calibri"/>
              <a:cs typeface="Calibri"/>
              <a:sym typeface="Calibri"/>
            </a:endParaRPr>
          </a:p>
        </p:txBody>
      </p:sp>
      <p:sp>
        <p:nvSpPr>
          <p:cNvPr id="199" name="Google Shape;199;p23"/>
          <p:cNvSpPr/>
          <p:nvPr/>
        </p:nvSpPr>
        <p:spPr>
          <a:xfrm>
            <a:off x="876300" y="265176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9E0B"/>
              </a:buClr>
              <a:buSzPts val="1800"/>
              <a:buFont typeface="Arial"/>
              <a:buNone/>
            </a:pPr>
            <a:r>
              <a:rPr b="1" i="0" lang="en-GB" sz="1800" u="none" cap="none" strike="noStrike">
                <a:solidFill>
                  <a:srgbClr val="F59E0B"/>
                </a:solidFill>
                <a:latin typeface="Arial"/>
                <a:ea typeface="Arial"/>
                <a:cs typeface="Arial"/>
                <a:sym typeface="Arial"/>
              </a:rPr>
              <a:t>📊 Model Evaluation</a:t>
            </a:r>
            <a:endParaRPr b="0" i="0" sz="1800" u="none" cap="none" strike="noStrike">
              <a:solidFill>
                <a:srgbClr val="000000"/>
              </a:solidFill>
              <a:latin typeface="Calibri"/>
              <a:ea typeface="Calibri"/>
              <a:cs typeface="Calibri"/>
              <a:sym typeface="Calibri"/>
            </a:endParaRPr>
          </a:p>
        </p:txBody>
      </p:sp>
      <p:sp>
        <p:nvSpPr>
          <p:cNvPr id="200" name="Google Shape;200;p23"/>
          <p:cNvSpPr/>
          <p:nvPr/>
        </p:nvSpPr>
        <p:spPr>
          <a:xfrm>
            <a:off x="876300" y="300228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Accuracy, Precision, Recall, F1-Score, ROC-AUC, Confusion Matrix</a:t>
            </a:r>
            <a:endParaRPr b="0" i="0" sz="1200" u="none" cap="none" strike="noStrike">
              <a:solidFill>
                <a:srgbClr val="000000"/>
              </a:solidFill>
              <a:latin typeface="Calibri"/>
              <a:ea typeface="Calibri"/>
              <a:cs typeface="Calibri"/>
              <a:sym typeface="Calibri"/>
            </a:endParaRPr>
          </a:p>
        </p:txBody>
      </p:sp>
      <p:sp>
        <p:nvSpPr>
          <p:cNvPr id="201" name="Google Shape;201;p23"/>
          <p:cNvSpPr/>
          <p:nvPr/>
        </p:nvSpPr>
        <p:spPr>
          <a:xfrm>
            <a:off x="876300" y="382524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9E0B"/>
              </a:buClr>
              <a:buSzPts val="1800"/>
              <a:buFont typeface="Arial"/>
              <a:buNone/>
            </a:pPr>
            <a:r>
              <a:rPr b="1" i="0" lang="en-GB" sz="1800" u="none" cap="none" strike="noStrike">
                <a:solidFill>
                  <a:srgbClr val="F59E0B"/>
                </a:solidFill>
                <a:latin typeface="Arial"/>
                <a:ea typeface="Arial"/>
                <a:cs typeface="Arial"/>
                <a:sym typeface="Arial"/>
              </a:rPr>
              <a:t>⚡ Hyperparameter Tuning</a:t>
            </a:r>
            <a:endParaRPr b="0" i="0" sz="1800" u="none" cap="none" strike="noStrike">
              <a:solidFill>
                <a:srgbClr val="000000"/>
              </a:solidFill>
              <a:latin typeface="Calibri"/>
              <a:ea typeface="Calibri"/>
              <a:cs typeface="Calibri"/>
              <a:sym typeface="Calibri"/>
            </a:endParaRPr>
          </a:p>
        </p:txBody>
      </p:sp>
      <p:sp>
        <p:nvSpPr>
          <p:cNvPr id="202" name="Google Shape;202;p23"/>
          <p:cNvSpPr/>
          <p:nvPr/>
        </p:nvSpPr>
        <p:spPr>
          <a:xfrm>
            <a:off x="876300" y="4175761"/>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Optimize model performance using cross-validation and grid search</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p:nvPr/>
        </p:nvSpPr>
        <p:spPr>
          <a:xfrm>
            <a:off x="609600" y="1249682"/>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8" name="Google Shape;208;p24"/>
          <p:cNvSpPr/>
          <p:nvPr/>
        </p:nvSpPr>
        <p:spPr>
          <a:xfrm>
            <a:off x="609600" y="2423159"/>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9" name="Google Shape;209;p24"/>
          <p:cNvSpPr/>
          <p:nvPr/>
        </p:nvSpPr>
        <p:spPr>
          <a:xfrm>
            <a:off x="609600" y="3596641"/>
            <a:ext cx="7924800" cy="10212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0" name="Google Shape;210;p24"/>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Phase 5: Actionable Insights &amp; Visualization</a:t>
            </a:r>
            <a:endParaRPr b="0" i="0" sz="2700" u="none" cap="none" strike="noStrike">
              <a:solidFill>
                <a:srgbClr val="000000"/>
              </a:solidFill>
              <a:latin typeface="Calibri"/>
              <a:ea typeface="Calibri"/>
              <a:cs typeface="Calibri"/>
              <a:sym typeface="Calibri"/>
            </a:endParaRPr>
          </a:p>
        </p:txBody>
      </p:sp>
      <p:sp>
        <p:nvSpPr>
          <p:cNvPr id="211" name="Google Shape;211;p24"/>
          <p:cNvSpPr/>
          <p:nvPr/>
        </p:nvSpPr>
        <p:spPr>
          <a:xfrm>
            <a:off x="876300" y="1478282"/>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5CF6"/>
              </a:buClr>
              <a:buSzPts val="1800"/>
              <a:buFont typeface="Arial"/>
              <a:buNone/>
            </a:pPr>
            <a:r>
              <a:rPr b="1" i="0" lang="en-GB" sz="1800" u="none" cap="none" strike="noStrike">
                <a:solidFill>
                  <a:srgbClr val="8B5CF6"/>
                </a:solidFill>
                <a:latin typeface="Arial"/>
                <a:ea typeface="Arial"/>
                <a:cs typeface="Arial"/>
                <a:sym typeface="Arial"/>
              </a:rPr>
              <a:t>📱 Streamlit Dashboard</a:t>
            </a:r>
            <a:endParaRPr b="0" i="0" sz="1800" u="none" cap="none" strike="noStrike">
              <a:solidFill>
                <a:srgbClr val="000000"/>
              </a:solidFill>
              <a:latin typeface="Calibri"/>
              <a:ea typeface="Calibri"/>
              <a:cs typeface="Calibri"/>
              <a:sym typeface="Calibri"/>
            </a:endParaRPr>
          </a:p>
        </p:txBody>
      </p:sp>
      <p:sp>
        <p:nvSpPr>
          <p:cNvPr id="212" name="Google Shape;212;p24"/>
          <p:cNvSpPr/>
          <p:nvPr/>
        </p:nvSpPr>
        <p:spPr>
          <a:xfrm>
            <a:off x="876300" y="1828800"/>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Interactive visualizations for attrition trends, at-risk employees, department analysis</a:t>
            </a:r>
            <a:endParaRPr b="0" i="0" sz="1200" u="none" cap="none" strike="noStrike">
              <a:solidFill>
                <a:srgbClr val="000000"/>
              </a:solidFill>
              <a:latin typeface="Calibri"/>
              <a:ea typeface="Calibri"/>
              <a:cs typeface="Calibri"/>
              <a:sym typeface="Calibri"/>
            </a:endParaRPr>
          </a:p>
        </p:txBody>
      </p:sp>
      <p:sp>
        <p:nvSpPr>
          <p:cNvPr id="213" name="Google Shape;213;p24"/>
          <p:cNvSpPr/>
          <p:nvPr/>
        </p:nvSpPr>
        <p:spPr>
          <a:xfrm>
            <a:off x="876300" y="2651759"/>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5CF6"/>
              </a:buClr>
              <a:buSzPts val="1800"/>
              <a:buFont typeface="Arial"/>
              <a:buNone/>
            </a:pPr>
            <a:r>
              <a:rPr b="1" i="0" lang="en-GB" sz="1800" u="none" cap="none" strike="noStrike">
                <a:solidFill>
                  <a:srgbClr val="8B5CF6"/>
                </a:solidFill>
                <a:latin typeface="Arial"/>
                <a:ea typeface="Arial"/>
                <a:cs typeface="Arial"/>
                <a:sym typeface="Arial"/>
              </a:rPr>
              <a:t>💡 Business Insights</a:t>
            </a:r>
            <a:endParaRPr b="0" i="0" sz="1800" u="none" cap="none" strike="noStrike">
              <a:solidFill>
                <a:srgbClr val="000000"/>
              </a:solidFill>
              <a:latin typeface="Calibri"/>
              <a:ea typeface="Calibri"/>
              <a:cs typeface="Calibri"/>
              <a:sym typeface="Calibri"/>
            </a:endParaRPr>
          </a:p>
        </p:txBody>
      </p:sp>
      <p:sp>
        <p:nvSpPr>
          <p:cNvPr id="214" name="Google Shape;214;p24"/>
          <p:cNvSpPr/>
          <p:nvPr/>
        </p:nvSpPr>
        <p:spPr>
          <a:xfrm>
            <a:off x="876300" y="3002282"/>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Identify high-risk employee segments and actionable retention strategies</a:t>
            </a:r>
            <a:endParaRPr b="0" i="0" sz="1200" u="none" cap="none" strike="noStrike">
              <a:solidFill>
                <a:srgbClr val="000000"/>
              </a:solidFill>
              <a:latin typeface="Calibri"/>
              <a:ea typeface="Calibri"/>
              <a:cs typeface="Calibri"/>
              <a:sym typeface="Calibri"/>
            </a:endParaRPr>
          </a:p>
        </p:txBody>
      </p:sp>
      <p:sp>
        <p:nvSpPr>
          <p:cNvPr id="215" name="Google Shape;215;p24"/>
          <p:cNvSpPr/>
          <p:nvPr/>
        </p:nvSpPr>
        <p:spPr>
          <a:xfrm>
            <a:off x="876300" y="3825241"/>
            <a:ext cx="75780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5CF6"/>
              </a:buClr>
              <a:buSzPts val="1800"/>
              <a:buFont typeface="Arial"/>
              <a:buNone/>
            </a:pPr>
            <a:r>
              <a:rPr b="1" i="0" lang="en-GB" sz="1800" u="none" cap="none" strike="noStrike">
                <a:solidFill>
                  <a:srgbClr val="8B5CF6"/>
                </a:solidFill>
                <a:latin typeface="Arial"/>
                <a:ea typeface="Arial"/>
                <a:cs typeface="Arial"/>
                <a:sym typeface="Arial"/>
              </a:rPr>
              <a:t>📋 HR Recommendations</a:t>
            </a:r>
            <a:endParaRPr b="0" i="0" sz="1800" u="none" cap="none" strike="noStrike">
              <a:solidFill>
                <a:srgbClr val="000000"/>
              </a:solidFill>
              <a:latin typeface="Calibri"/>
              <a:ea typeface="Calibri"/>
              <a:cs typeface="Calibri"/>
              <a:sym typeface="Calibri"/>
            </a:endParaRPr>
          </a:p>
        </p:txBody>
      </p:sp>
      <p:sp>
        <p:nvSpPr>
          <p:cNvPr id="216" name="Google Shape;216;p24"/>
          <p:cNvSpPr/>
          <p:nvPr/>
        </p:nvSpPr>
        <p:spPr>
          <a:xfrm>
            <a:off x="876300" y="4175759"/>
            <a:ext cx="7578000" cy="213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b="0" i="0" lang="en-GB" sz="1200" u="none" cap="none" strike="noStrike">
                <a:solidFill>
                  <a:srgbClr val="CBD5E1"/>
                </a:solidFill>
                <a:latin typeface="Arial"/>
                <a:ea typeface="Arial"/>
                <a:cs typeface="Arial"/>
                <a:sym typeface="Arial"/>
              </a:rPr>
              <a:t>Targeted interventions, career development, compensation adjustments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p:nvPr/>
        </p:nvSpPr>
        <p:spPr>
          <a:xfrm>
            <a:off x="609600" y="609600"/>
            <a:ext cx="8083200" cy="41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i="0" lang="en-GB" sz="2700" u="none" cap="none" strike="noStrike">
                <a:solidFill>
                  <a:srgbClr val="38BDF8"/>
                </a:solidFill>
                <a:latin typeface="Arial"/>
                <a:ea typeface="Arial"/>
                <a:cs typeface="Arial"/>
                <a:sym typeface="Arial"/>
              </a:rPr>
              <a:t>Streamlit Dashboard Components</a:t>
            </a:r>
            <a:endParaRPr b="0" i="0" sz="2700" u="none" cap="none" strike="noStrike">
              <a:solidFill>
                <a:srgbClr val="000000"/>
              </a:solidFill>
              <a:latin typeface="Calibri"/>
              <a:ea typeface="Calibri"/>
              <a:cs typeface="Calibri"/>
              <a:sym typeface="Calibri"/>
            </a:endParaRPr>
          </a:p>
        </p:txBody>
      </p:sp>
      <p:sp>
        <p:nvSpPr>
          <p:cNvPr id="222" name="Google Shape;222;p25"/>
          <p:cNvSpPr/>
          <p:nvPr/>
        </p:nvSpPr>
        <p:spPr>
          <a:xfrm>
            <a:off x="914400" y="1249670"/>
            <a:ext cx="7620000" cy="2892900"/>
          </a:xfrm>
          <a:prstGeom prst="rect">
            <a:avLst/>
          </a:prstGeom>
          <a:noFill/>
          <a:ln>
            <a:noFill/>
          </a:ln>
        </p:spPr>
        <p:txBody>
          <a:bodyPr anchorCtr="0" anchor="t" bIns="0" lIns="0" spcFirstLastPara="1" rIns="0" wrap="square" tIns="0">
            <a:noAutofit/>
          </a:bodyPr>
          <a:lstStyle/>
          <a:p>
            <a:pPr indent="0" lvl="0" marL="0" marR="0" rtl="0" algn="l">
              <a:lnSpc>
                <a:spcPct val="180000"/>
              </a:lnSpc>
              <a:spcBef>
                <a:spcPts val="0"/>
              </a:spcBef>
              <a:spcAft>
                <a:spcPts val="0"/>
              </a:spcAft>
              <a:buClr>
                <a:srgbClr val="8B5CF6"/>
              </a:buClr>
              <a:buSzPts val="1350"/>
              <a:buFont typeface="Arial"/>
              <a:buNone/>
            </a:pPr>
            <a:r>
              <a:rPr b="1" i="0" lang="en-GB" sz="1550" u="none" cap="none" strike="noStrike">
                <a:solidFill>
                  <a:srgbClr val="1E293B"/>
                </a:solidFill>
                <a:latin typeface="Arial"/>
                <a:ea typeface="Arial"/>
                <a:cs typeface="Arial"/>
                <a:sym typeface="Arial"/>
              </a:rPr>
              <a:t>Attrition Rate by Department</a:t>
            </a:r>
            <a:r>
              <a:rPr b="0" i="0" lang="en-GB" sz="1550" u="none" cap="none" strike="noStrike">
                <a:solidFill>
                  <a:srgbClr val="1E293B"/>
                </a:solidFill>
                <a:latin typeface="Arial"/>
                <a:ea typeface="Arial"/>
                <a:cs typeface="Arial"/>
                <a:sym typeface="Arial"/>
              </a:rPr>
              <a:t> - Filter and compare attrition across teams</a:t>
            </a:r>
            <a:endParaRPr b="0" i="0" sz="1550" u="none" cap="none" strike="noStrike">
              <a:solidFill>
                <a:srgbClr val="1E293B"/>
              </a:solidFill>
              <a:latin typeface="Calibri"/>
              <a:ea typeface="Calibri"/>
              <a:cs typeface="Calibri"/>
              <a:sym typeface="Calibri"/>
            </a:endParaRPr>
          </a:p>
          <a:p>
            <a:pPr indent="0" lvl="0" marL="0" marR="0" rtl="0" algn="l">
              <a:lnSpc>
                <a:spcPct val="180000"/>
              </a:lnSpc>
              <a:spcBef>
                <a:spcPts val="0"/>
              </a:spcBef>
              <a:spcAft>
                <a:spcPts val="0"/>
              </a:spcAft>
              <a:buClr>
                <a:srgbClr val="8B5CF6"/>
              </a:buClr>
              <a:buSzPts val="1350"/>
              <a:buFont typeface="Arial"/>
              <a:buNone/>
            </a:pPr>
            <a:r>
              <a:rPr b="1" i="0" lang="en-GB" sz="1550" u="none" cap="none" strike="noStrike">
                <a:solidFill>
                  <a:srgbClr val="1E293B"/>
                </a:solidFill>
                <a:latin typeface="Arial"/>
                <a:ea typeface="Arial"/>
                <a:cs typeface="Arial"/>
                <a:sym typeface="Arial"/>
              </a:rPr>
              <a:t>Risk Prediction Widget</a:t>
            </a:r>
            <a:r>
              <a:rPr b="0" i="0" lang="en-GB" sz="1550" u="none" cap="none" strike="noStrike">
                <a:solidFill>
                  <a:srgbClr val="1E293B"/>
                </a:solidFill>
                <a:latin typeface="Arial"/>
                <a:ea typeface="Arial"/>
                <a:cs typeface="Arial"/>
                <a:sym typeface="Arial"/>
              </a:rPr>
              <a:t> - Enter employee details to get attrition probability</a:t>
            </a:r>
            <a:endParaRPr b="0" i="0" sz="1550" u="none" cap="none" strike="noStrike">
              <a:solidFill>
                <a:srgbClr val="1E293B"/>
              </a:solidFill>
              <a:latin typeface="Calibri"/>
              <a:ea typeface="Calibri"/>
              <a:cs typeface="Calibri"/>
              <a:sym typeface="Calibri"/>
            </a:endParaRPr>
          </a:p>
          <a:p>
            <a:pPr indent="0" lvl="0" marL="0" marR="0" rtl="0" algn="l">
              <a:lnSpc>
                <a:spcPct val="180000"/>
              </a:lnSpc>
              <a:spcBef>
                <a:spcPts val="0"/>
              </a:spcBef>
              <a:spcAft>
                <a:spcPts val="0"/>
              </a:spcAft>
              <a:buClr>
                <a:srgbClr val="8B5CF6"/>
              </a:buClr>
              <a:buSzPts val="1350"/>
              <a:buFont typeface="Arial"/>
              <a:buNone/>
            </a:pPr>
            <a:r>
              <a:rPr b="1" i="0" lang="en-GB" sz="1550" u="none" cap="none" strike="noStrike">
                <a:solidFill>
                  <a:srgbClr val="1E293B"/>
                </a:solidFill>
                <a:latin typeface="Arial"/>
                <a:ea typeface="Arial"/>
                <a:cs typeface="Arial"/>
                <a:sym typeface="Arial"/>
              </a:rPr>
              <a:t>Salary vs Satisfaction Analysis</a:t>
            </a:r>
            <a:r>
              <a:rPr b="0" i="0" lang="en-GB" sz="1550" u="none" cap="none" strike="noStrike">
                <a:solidFill>
                  <a:srgbClr val="1E293B"/>
                </a:solidFill>
                <a:latin typeface="Arial"/>
                <a:ea typeface="Arial"/>
                <a:cs typeface="Arial"/>
                <a:sym typeface="Arial"/>
              </a:rPr>
              <a:t> - Visualize compensation impact on retention</a:t>
            </a:r>
            <a:endParaRPr b="0" i="0" sz="1550" u="none" cap="none" strike="noStrike">
              <a:solidFill>
                <a:srgbClr val="1E293B"/>
              </a:solidFill>
              <a:latin typeface="Calibri"/>
              <a:ea typeface="Calibri"/>
              <a:cs typeface="Calibri"/>
              <a:sym typeface="Calibri"/>
            </a:endParaRPr>
          </a:p>
          <a:p>
            <a:pPr indent="0" lvl="0" marL="0" marR="0" rtl="0" algn="l">
              <a:lnSpc>
                <a:spcPct val="180000"/>
              </a:lnSpc>
              <a:spcBef>
                <a:spcPts val="0"/>
              </a:spcBef>
              <a:spcAft>
                <a:spcPts val="0"/>
              </a:spcAft>
              <a:buClr>
                <a:srgbClr val="8B5CF6"/>
              </a:buClr>
              <a:buSzPts val="1350"/>
              <a:buFont typeface="Arial"/>
              <a:buNone/>
            </a:pPr>
            <a:r>
              <a:rPr b="1" i="0" lang="en-GB" sz="1550" u="none" cap="none" strike="noStrike">
                <a:solidFill>
                  <a:srgbClr val="1E293B"/>
                </a:solidFill>
                <a:latin typeface="Arial"/>
                <a:ea typeface="Arial"/>
                <a:cs typeface="Arial"/>
                <a:sym typeface="Arial"/>
              </a:rPr>
              <a:t>Tenure Trends</a:t>
            </a:r>
            <a:r>
              <a:rPr b="0" i="0" lang="en-GB" sz="1550" u="none" cap="none" strike="noStrike">
                <a:solidFill>
                  <a:srgbClr val="1E293B"/>
                </a:solidFill>
                <a:latin typeface="Arial"/>
                <a:ea typeface="Arial"/>
                <a:cs typeface="Arial"/>
                <a:sym typeface="Arial"/>
              </a:rPr>
              <a:t> - Analyze retention by experience level</a:t>
            </a:r>
            <a:endParaRPr b="0" i="0" sz="1550" u="none" cap="none" strike="noStrike">
              <a:solidFill>
                <a:srgbClr val="1E293B"/>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6"/>
          <p:cNvPicPr preferRelativeResize="0"/>
          <p:nvPr/>
        </p:nvPicPr>
        <p:blipFill>
          <a:blip r:embed="rId3">
            <a:alphaModFix/>
          </a:blip>
          <a:stretch>
            <a:fillRect/>
          </a:stretch>
        </p:blipFill>
        <p:spPr>
          <a:xfrm>
            <a:off x="152400" y="152400"/>
            <a:ext cx="8767998" cy="4838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7"/>
          <p:cNvPicPr preferRelativeResize="0"/>
          <p:nvPr/>
        </p:nvPicPr>
        <p:blipFill>
          <a:blip r:embed="rId3">
            <a:alphaModFix/>
          </a:blip>
          <a:stretch>
            <a:fillRect/>
          </a:stretch>
        </p:blipFill>
        <p:spPr>
          <a:xfrm>
            <a:off x="152400" y="152400"/>
            <a:ext cx="8991598" cy="48387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8"/>
          <p:cNvPicPr preferRelativeResize="0"/>
          <p:nvPr/>
        </p:nvPicPr>
        <p:blipFill>
          <a:blip r:embed="rId3">
            <a:alphaModFix/>
          </a:blip>
          <a:stretch>
            <a:fillRect/>
          </a:stretch>
        </p:blipFill>
        <p:spPr>
          <a:xfrm>
            <a:off x="0" y="0"/>
            <a:ext cx="9144000" cy="4991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29"/>
          <p:cNvPicPr preferRelativeResize="0"/>
          <p:nvPr/>
        </p:nvPicPr>
        <p:blipFill>
          <a:blip r:embed="rId3">
            <a:alphaModFix/>
          </a:blip>
          <a:stretch>
            <a:fillRect/>
          </a:stretch>
        </p:blipFill>
        <p:spPr>
          <a:xfrm>
            <a:off x="0" y="0"/>
            <a:ext cx="9144001" cy="4991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0"/>
          <p:cNvPicPr preferRelativeResize="0"/>
          <p:nvPr/>
        </p:nvPicPr>
        <p:blipFill>
          <a:blip r:embed="rId3">
            <a:alphaModFix/>
          </a:blip>
          <a:stretch>
            <a:fillRect/>
          </a:stretch>
        </p:blipFill>
        <p:spPr>
          <a:xfrm>
            <a:off x="0" y="0"/>
            <a:ext cx="9144000" cy="507569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1"/>
          <p:cNvPicPr preferRelativeResize="0"/>
          <p:nvPr/>
        </p:nvPicPr>
        <p:blipFill>
          <a:blip r:embed="rId3">
            <a:alphaModFix/>
          </a:blip>
          <a:stretch>
            <a:fillRect/>
          </a:stretch>
        </p:blipFill>
        <p:spPr>
          <a:xfrm>
            <a:off x="152400" y="0"/>
            <a:ext cx="8991599" cy="4991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32"/>
          <p:cNvPicPr preferRelativeResize="0"/>
          <p:nvPr/>
        </p:nvPicPr>
        <p:blipFill>
          <a:blip r:embed="rId3">
            <a:alphaModFix/>
          </a:blip>
          <a:stretch>
            <a:fillRect/>
          </a:stretch>
        </p:blipFill>
        <p:spPr>
          <a:xfrm>
            <a:off x="22887" y="0"/>
            <a:ext cx="9273514" cy="50408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33"/>
          <p:cNvPicPr preferRelativeResize="0"/>
          <p:nvPr/>
        </p:nvPicPr>
        <p:blipFill>
          <a:blip r:embed="rId3">
            <a:alphaModFix/>
          </a:blip>
          <a:stretch>
            <a:fillRect/>
          </a:stretch>
        </p:blipFill>
        <p:spPr>
          <a:xfrm>
            <a:off x="0" y="35558"/>
            <a:ext cx="9144001" cy="495554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4"/>
          <p:cNvPicPr preferRelativeResize="0"/>
          <p:nvPr/>
        </p:nvPicPr>
        <p:blipFill>
          <a:blip r:embed="rId3">
            <a:alphaModFix/>
          </a:blip>
          <a:stretch>
            <a:fillRect/>
          </a:stretch>
        </p:blipFill>
        <p:spPr>
          <a:xfrm>
            <a:off x="-62025" y="-45000"/>
            <a:ext cx="9358425" cy="50360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35"/>
          <p:cNvPicPr preferRelativeResize="0"/>
          <p:nvPr/>
        </p:nvPicPr>
        <p:blipFill>
          <a:blip r:embed="rId3">
            <a:alphaModFix/>
          </a:blip>
          <a:stretch>
            <a:fillRect/>
          </a:stretch>
        </p:blipFill>
        <p:spPr>
          <a:xfrm>
            <a:off x="0" y="0"/>
            <a:ext cx="9144000" cy="48247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6"/>
          <p:cNvPicPr preferRelativeResize="0"/>
          <p:nvPr/>
        </p:nvPicPr>
        <p:blipFill>
          <a:blip r:embed="rId3">
            <a:alphaModFix/>
          </a:blip>
          <a:stretch>
            <a:fillRect/>
          </a:stretch>
        </p:blipFill>
        <p:spPr>
          <a:xfrm>
            <a:off x="152400" y="-771975"/>
            <a:ext cx="9046025" cy="5468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7"/>
          <p:cNvPicPr preferRelativeResize="0"/>
          <p:nvPr/>
        </p:nvPicPr>
        <p:blipFill>
          <a:blip r:embed="rId3">
            <a:alphaModFix/>
          </a:blip>
          <a:stretch>
            <a:fillRect/>
          </a:stretch>
        </p:blipFill>
        <p:spPr>
          <a:xfrm>
            <a:off x="152400" y="152400"/>
            <a:ext cx="8991598" cy="48387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8"/>
          <p:cNvPicPr preferRelativeResize="0"/>
          <p:nvPr/>
        </p:nvPicPr>
        <p:blipFill>
          <a:blip r:embed="rId3">
            <a:alphaModFix/>
          </a:blip>
          <a:stretch>
            <a:fillRect/>
          </a:stretch>
        </p:blipFill>
        <p:spPr>
          <a:xfrm>
            <a:off x="152400" y="152400"/>
            <a:ext cx="8939076" cy="48387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9"/>
          <p:cNvPicPr preferRelativeResize="0"/>
          <p:nvPr/>
        </p:nvPicPr>
        <p:blipFill>
          <a:blip r:embed="rId3">
            <a:alphaModFix/>
          </a:blip>
          <a:stretch>
            <a:fillRect/>
          </a:stretch>
        </p:blipFill>
        <p:spPr>
          <a:xfrm>
            <a:off x="152400" y="152400"/>
            <a:ext cx="8991599" cy="483869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40"/>
          <p:cNvPicPr preferRelativeResize="0"/>
          <p:nvPr/>
        </p:nvPicPr>
        <p:blipFill>
          <a:blip r:embed="rId3">
            <a:alphaModFix/>
          </a:blip>
          <a:stretch>
            <a:fillRect/>
          </a:stretch>
        </p:blipFill>
        <p:spPr>
          <a:xfrm>
            <a:off x="152400" y="152400"/>
            <a:ext cx="8991601" cy="48386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nvSpPr>
        <p:spPr>
          <a:xfrm>
            <a:off x="-63225" y="68450"/>
            <a:ext cx="9144000" cy="507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550">
                <a:solidFill>
                  <a:schemeClr val="dk2"/>
                </a:solidFill>
                <a:latin typeface="Times New Roman"/>
                <a:ea typeface="Times New Roman"/>
                <a:cs typeface="Times New Roman"/>
                <a:sym typeface="Times New Roman"/>
              </a:rPr>
              <a:t>Logistic Regression model :</a:t>
            </a:r>
            <a:endParaRPr b="1" sz="155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550">
                <a:solidFill>
                  <a:schemeClr val="dk2"/>
                </a:solidFill>
                <a:latin typeface="Times New Roman"/>
                <a:ea typeface="Times New Roman"/>
                <a:cs typeface="Times New Roman"/>
                <a:sym typeface="Times New Roman"/>
              </a:rPr>
              <a:t>Model Performance:</a:t>
            </a:r>
            <a:endParaRPr sz="155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550">
                <a:solidFill>
                  <a:schemeClr val="dk2"/>
                </a:solidFill>
                <a:latin typeface="Times New Roman"/>
                <a:ea typeface="Times New Roman"/>
                <a:cs typeface="Times New Roman"/>
                <a:sym typeface="Times New Roman"/>
              </a:rPr>
              <a:t>Accuracy: 0.8476</a:t>
            </a:r>
            <a:endParaRPr sz="155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550">
                <a:solidFill>
                  <a:schemeClr val="dk2"/>
                </a:solidFill>
                <a:latin typeface="Times New Roman"/>
                <a:ea typeface="Times New Roman"/>
                <a:cs typeface="Times New Roman"/>
                <a:sym typeface="Times New Roman"/>
              </a:rPr>
              <a:t>Precision: 0.5000</a:t>
            </a:r>
            <a:endParaRPr sz="155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550">
                <a:solidFill>
                  <a:schemeClr val="dk2"/>
                </a:solidFill>
                <a:latin typeface="Times New Roman"/>
                <a:ea typeface="Times New Roman"/>
                <a:cs typeface="Times New Roman"/>
                <a:sym typeface="Times New Roman"/>
              </a:rPr>
              <a:t>Recall: 0.4688</a:t>
            </a:r>
            <a:endParaRPr sz="155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550">
                <a:solidFill>
                  <a:schemeClr val="dk2"/>
                </a:solidFill>
                <a:latin typeface="Times New Roman"/>
                <a:ea typeface="Times New Roman"/>
                <a:cs typeface="Times New Roman"/>
                <a:sym typeface="Times New Roman"/>
              </a:rPr>
              <a:t>F1-Score: 0.4839</a:t>
            </a:r>
            <a:endParaRPr sz="155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550">
                <a:solidFill>
                  <a:schemeClr val="dk2"/>
                </a:solidFill>
                <a:latin typeface="Times New Roman"/>
                <a:ea typeface="Times New Roman"/>
                <a:cs typeface="Times New Roman"/>
                <a:sym typeface="Times New Roman"/>
              </a:rPr>
              <a:t>AUC-ROC: 0.7726</a:t>
            </a:r>
            <a:endParaRPr sz="1800">
              <a:solidFill>
                <a:schemeClr val="dk2"/>
              </a:solidFill>
              <a:latin typeface="Times New Roman"/>
              <a:ea typeface="Times New Roman"/>
              <a:cs typeface="Times New Roman"/>
              <a:sym typeface="Times New Roman"/>
            </a:endParaRPr>
          </a:p>
        </p:txBody>
      </p:sp>
      <p:sp>
        <p:nvSpPr>
          <p:cNvPr id="303" name="Google Shape;303;p41"/>
          <p:cNvSpPr txBox="1"/>
          <p:nvPr/>
        </p:nvSpPr>
        <p:spPr>
          <a:xfrm>
            <a:off x="5989875" y="121925"/>
            <a:ext cx="3154500" cy="21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latin typeface="Times New Roman"/>
                <a:ea typeface="Times New Roman"/>
                <a:cs typeface="Times New Roman"/>
                <a:sym typeface="Times New Roman"/>
              </a:rPr>
              <a:t>Beginning Decision Tree Classifier </a:t>
            </a:r>
            <a:endParaRPr b="1">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Decision Tree Classifier -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Decision Tree Model Performance:</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Accuracy: 0.7810</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Precision: 0.3250</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Recall: 0.4062</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F1-Score: 0.3611</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AUC-ROC: 0.6273</a:t>
            </a:r>
            <a:endParaRPr>
              <a:solidFill>
                <a:schemeClr val="dk2"/>
              </a:solidFill>
              <a:latin typeface="Times New Roman"/>
              <a:ea typeface="Times New Roman"/>
              <a:cs typeface="Times New Roman"/>
              <a:sym typeface="Times New Roman"/>
            </a:endParaRPr>
          </a:p>
        </p:txBody>
      </p:sp>
      <p:sp>
        <p:nvSpPr>
          <p:cNvPr id="304" name="Google Shape;304;p41"/>
          <p:cNvSpPr txBox="1"/>
          <p:nvPr/>
        </p:nvSpPr>
        <p:spPr>
          <a:xfrm>
            <a:off x="3027675" y="2485150"/>
            <a:ext cx="2962200" cy="25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50">
                <a:solidFill>
                  <a:schemeClr val="dk2"/>
                </a:solidFill>
                <a:latin typeface="Times New Roman"/>
                <a:ea typeface="Times New Roman"/>
                <a:cs typeface="Times New Roman"/>
                <a:sym typeface="Times New Roman"/>
              </a:rPr>
              <a:t>Beginning Random Forest Classifier </a:t>
            </a:r>
            <a:endParaRPr b="1"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Random Forest Classifier </a:t>
            </a:r>
            <a:endParaRPr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Random Forest Model Performance:</a:t>
            </a:r>
            <a:endParaRPr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Accuracy: 0.8524</a:t>
            </a:r>
            <a:endParaRPr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Precision: 0.6000</a:t>
            </a:r>
            <a:endParaRPr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Recall: 0.0938</a:t>
            </a:r>
            <a:endParaRPr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F1-Score: 0.1622</a:t>
            </a:r>
            <a:endParaRPr sz="155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dk2"/>
                </a:solidFill>
                <a:latin typeface="Times New Roman"/>
                <a:ea typeface="Times New Roman"/>
                <a:cs typeface="Times New Roman"/>
                <a:sym typeface="Times New Roman"/>
              </a:rPr>
              <a:t>AUC-ROC: 0.6676</a:t>
            </a:r>
            <a:endParaRPr sz="1800">
              <a:solidFill>
                <a:schemeClr val="dk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1000"/>
                                        <p:tgtEl>
                                          <p:spTgt spid="3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1000"/>
                                        <p:tgtEl>
                                          <p:spTgt spid="3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2"/>
          <p:cNvPicPr preferRelativeResize="0"/>
          <p:nvPr/>
        </p:nvPicPr>
        <p:blipFill>
          <a:blip r:embed="rId3">
            <a:alphaModFix/>
          </a:blip>
          <a:stretch>
            <a:fillRect/>
          </a:stretch>
        </p:blipFill>
        <p:spPr>
          <a:xfrm>
            <a:off x="152400" y="0"/>
            <a:ext cx="8896300" cy="4991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43"/>
          <p:cNvPicPr preferRelativeResize="0"/>
          <p:nvPr/>
        </p:nvPicPr>
        <p:blipFill>
          <a:blip r:embed="rId3">
            <a:alphaModFix/>
          </a:blip>
          <a:stretch>
            <a:fillRect/>
          </a:stretch>
        </p:blipFill>
        <p:spPr>
          <a:xfrm>
            <a:off x="0" y="0"/>
            <a:ext cx="10858464" cy="5094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descr="Continuous one line drawing of thank you text. Vector minimalist script lettering with minimalism contour trendy. Sign for banner, poster, and card isolated on white background (provided by Getty Images)" id="319" name="Google Shape;319;p44"/>
          <p:cNvPicPr preferRelativeResize="0"/>
          <p:nvPr/>
        </p:nvPicPr>
        <p:blipFill>
          <a:blip r:embed="rId3">
            <a:alphaModFix/>
          </a:blip>
          <a:stretch>
            <a:fillRect/>
          </a:stretch>
        </p:blipFill>
        <p:spPr>
          <a:xfrm>
            <a:off x="-213925" y="47050"/>
            <a:ext cx="10348524" cy="50964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