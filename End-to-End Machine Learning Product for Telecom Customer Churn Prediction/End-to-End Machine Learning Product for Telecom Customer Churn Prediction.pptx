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p:regular r:id="rId24"/>
      <p:bold r:id="rId25"/>
      <p:italic r:id="rId26"/>
      <p:boldItalic r:id="rId27"/>
    </p:embeddedFont>
    <p:embeddedFont>
      <p:font typeface="Merriweather"/>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Merriweather-regular.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erriweather-boldItalic.fntdata"/><Relationship Id="rId30" Type="http://schemas.openxmlformats.org/officeDocument/2006/relationships/font" Target="fonts/Merriweather-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de5811219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de5811219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e5811219c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e5811219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e5811219c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de5811219c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e5811219c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de5811219c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e5811219c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e5811219c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e5811219c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de5811219c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de5811219c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de5811219c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e5811219c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de5811219c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e5811219c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e5811219c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e5811219c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e5811219c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e5811219c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e5811219c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e5811219c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e5811219c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e5811219c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e5811219c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e5811219c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e5811219c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e5811219c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e5811219c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e5811219c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e5811219c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e5811219c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e5811219c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677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End-to-End Machine Learning Product for Telecom</a:t>
            </a:r>
            <a:endParaRPr/>
          </a:p>
          <a:p>
            <a:pPr indent="0" lvl="0" marL="0" rtl="0" algn="l">
              <a:spcBef>
                <a:spcPts val="0"/>
              </a:spcBef>
              <a:spcAft>
                <a:spcPts val="0"/>
              </a:spcAft>
              <a:buNone/>
            </a:pPr>
            <a:r>
              <a:rPr lang="en-GB"/>
              <a:t>Customer Churn Prediction</a:t>
            </a:r>
            <a:endParaRPr/>
          </a:p>
          <a:p>
            <a:pPr indent="0" lvl="0" marL="0" rtl="0" algn="l">
              <a:spcBef>
                <a:spcPts val="0"/>
              </a:spcBef>
              <a:spcAft>
                <a:spcPts val="0"/>
              </a:spcAft>
              <a:buNone/>
            </a:pPr>
            <a:r>
              <a:t/>
            </a:r>
            <a:endParaRPr/>
          </a:p>
        </p:txBody>
      </p:sp>
      <p:sp>
        <p:nvSpPr>
          <p:cNvPr id="65" name="Google Shape;65;p13"/>
          <p:cNvSpPr txBox="1"/>
          <p:nvPr>
            <p:ph idx="1" type="subTitle"/>
          </p:nvPr>
        </p:nvSpPr>
        <p:spPr>
          <a:xfrm>
            <a:off x="311700" y="2253685"/>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Naveen Kumar</a:t>
            </a:r>
            <a:r>
              <a:rPr lang="en-GB"/>
              <a:t> Sivakumar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nvSpPr>
        <p:spPr>
          <a:xfrm>
            <a:off x="191725" y="158400"/>
            <a:ext cx="3051000" cy="43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2"/>
                </a:solidFill>
                <a:latin typeface="Times New Roman"/>
                <a:ea typeface="Times New Roman"/>
                <a:cs typeface="Times New Roman"/>
                <a:sym typeface="Times New Roman"/>
              </a:rPr>
              <a:t>Problem Statement:</a:t>
            </a:r>
            <a:endParaRPr b="1" sz="2000">
              <a:solidFill>
                <a:schemeClr val="dk2"/>
              </a:solidFill>
              <a:latin typeface="Times New Roman"/>
              <a:ea typeface="Times New Roman"/>
              <a:cs typeface="Times New Roman"/>
              <a:sym typeface="Times New Roman"/>
            </a:endParaRPr>
          </a:p>
        </p:txBody>
      </p:sp>
      <p:sp>
        <p:nvSpPr>
          <p:cNvPr id="71" name="Google Shape;71;p14"/>
          <p:cNvSpPr txBox="1"/>
          <p:nvPr/>
        </p:nvSpPr>
        <p:spPr>
          <a:xfrm>
            <a:off x="241750" y="725250"/>
            <a:ext cx="8811600" cy="1150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As a Data Scientist in a telecom company, I developed an end-to-end machine learning solution to predict customer churn using historical data such as demographics, account details, subscribed services, and billing information. The model not only identifies customers at risk of leaving but also explains the key factors driving churn, enabling the business to take proactive retention actions and improve customer loyalty.</a:t>
            </a:r>
            <a:endParaRPr sz="1500">
              <a:solidFill>
                <a:schemeClr val="dk1"/>
              </a:solidFill>
              <a:latin typeface="Times New Roman"/>
              <a:ea typeface="Times New Roman"/>
              <a:cs typeface="Times New Roman"/>
              <a:sym typeface="Times New Roman"/>
            </a:endParaRPr>
          </a:p>
        </p:txBody>
      </p:sp>
      <p:sp>
        <p:nvSpPr>
          <p:cNvPr id="72" name="Google Shape;72;p14"/>
          <p:cNvSpPr txBox="1"/>
          <p:nvPr/>
        </p:nvSpPr>
        <p:spPr>
          <a:xfrm>
            <a:off x="241750" y="2159125"/>
            <a:ext cx="2692500" cy="3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2"/>
                </a:solidFill>
                <a:latin typeface="Times New Roman"/>
                <a:ea typeface="Times New Roman"/>
                <a:cs typeface="Times New Roman"/>
                <a:sym typeface="Times New Roman"/>
              </a:rPr>
              <a:t>Business Use Cases:</a:t>
            </a:r>
            <a:endParaRPr b="1" sz="2000">
              <a:solidFill>
                <a:schemeClr val="dk2"/>
              </a:solidFill>
              <a:latin typeface="Times New Roman"/>
              <a:ea typeface="Times New Roman"/>
              <a:cs typeface="Times New Roman"/>
              <a:sym typeface="Times New Roman"/>
            </a:endParaRPr>
          </a:p>
        </p:txBody>
      </p:sp>
      <p:sp>
        <p:nvSpPr>
          <p:cNvPr id="73" name="Google Shape;73;p14"/>
          <p:cNvSpPr txBox="1"/>
          <p:nvPr/>
        </p:nvSpPr>
        <p:spPr>
          <a:xfrm>
            <a:off x="304300" y="2792600"/>
            <a:ext cx="8686500" cy="1008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n-GB" sz="1500">
                <a:solidFill>
                  <a:schemeClr val="dk1"/>
                </a:solidFill>
                <a:latin typeface="Times New Roman"/>
                <a:ea typeface="Times New Roman"/>
                <a:cs typeface="Times New Roman"/>
                <a:sym typeface="Times New Roman"/>
              </a:rPr>
              <a:t>The solution identifies customers at high risk of churn, enabling timely and targeted retention strategies. By leveraging data-driven insights, it helps reduce customer acquisition costs while improving overall customer lifetime value (CLV). Additionally, it supports personalized offers and empowers management to make informed, strategic decisions.</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5"/>
          <p:cNvPicPr preferRelativeResize="0"/>
          <p:nvPr/>
        </p:nvPicPr>
        <p:blipFill>
          <a:blip r:embed="rId3">
            <a:alphaModFix/>
          </a:blip>
          <a:stretch>
            <a:fillRect/>
          </a:stretch>
        </p:blipFill>
        <p:spPr>
          <a:xfrm>
            <a:off x="1833525" y="277450"/>
            <a:ext cx="5476951" cy="44091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nvSpPr>
        <p:spPr>
          <a:xfrm>
            <a:off x="207600" y="141725"/>
            <a:ext cx="8936400" cy="44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2"/>
                </a:solidFill>
                <a:latin typeface="Times New Roman"/>
                <a:ea typeface="Times New Roman"/>
                <a:cs typeface="Times New Roman"/>
                <a:sym typeface="Times New Roman"/>
              </a:rPr>
              <a:t>Data Understanding &amp; Ingestion:</a:t>
            </a:r>
            <a:endParaRPr b="1" sz="20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GB" sz="1500">
                <a:solidFill>
                  <a:schemeClr val="dk1"/>
                </a:solidFill>
                <a:latin typeface="Times New Roman"/>
                <a:ea typeface="Times New Roman"/>
                <a:cs typeface="Times New Roman"/>
                <a:sym typeface="Times New Roman"/>
              </a:rPr>
              <a:t>The first step in the project involves data understanding and ingestion, where the telecom customer churn dataset is loaded and explored in detail. This phase focuses on interpreting the business meaning of each column to ensure a clear understanding of customer behavior and service usage patterns. Key attributes include customer demographics such as gender, senior citizen status, partner, and dependents, along with account-related details like tenure, contract type, and payment method.</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GB" sz="1500">
                <a:solidFill>
                  <a:schemeClr val="dk1"/>
                </a:solidFill>
                <a:latin typeface="Times New Roman"/>
                <a:ea typeface="Times New Roman"/>
                <a:cs typeface="Times New Roman"/>
                <a:sym typeface="Times New Roman"/>
              </a:rPr>
              <a:t>Additionally, the dataset captures service-related features such as phone service, internet service, online security, backup, device protection, tech support, and streaming services. Billing information, including monthly and total charges, provides insights into customer spending patterns. The target variable, churn, indicates whether a customer has left the service, forming the foundation for building predictive models and deriving actionable business insights.</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t/>
            </a:r>
            <a:endParaRPr sz="1500">
              <a:solidFill>
                <a:schemeClr val="dk2"/>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83"/>
                                        </p:tgtEl>
                                        <p:attrNameLst>
                                          <p:attrName>style.visibility</p:attrName>
                                        </p:attrNameLst>
                                      </p:cBhvr>
                                      <p:to>
                                        <p:strVal val="visible"/>
                                      </p:to>
                                    </p:set>
                                    <p:anim calcmode="lin" valueType="num">
                                      <p:cBhvr additive="base">
                                        <p:cTn dur="1100"/>
                                        <p:tgtEl>
                                          <p:spTgt spid="8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nvSpPr>
        <p:spPr>
          <a:xfrm>
            <a:off x="208400" y="250100"/>
            <a:ext cx="8578200" cy="48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2"/>
                </a:solidFill>
                <a:latin typeface="Times New Roman"/>
                <a:ea typeface="Times New Roman"/>
                <a:cs typeface="Times New Roman"/>
                <a:sym typeface="Times New Roman"/>
              </a:rPr>
              <a:t>Exploratory Data Analysis (EDA):</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Exploratory Data Analysis (EDA) is a crucial step in the machine learning pipeline that involves analyzing and visualizing data to uncover patterns, trends, and relationships. It helps in understanding the underlying structure of the dataset, identifying anomalies, and generating insights that guide feature selection and model building. Through EDA, we aim to answer key business questions and validate assumptions using data-driven evidence.</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None/>
            </a:pPr>
            <a:r>
              <a:rPr lang="en-GB" sz="1500">
                <a:solidFill>
                  <a:schemeClr val="dk1"/>
                </a:solidFill>
                <a:latin typeface="Times New Roman"/>
                <a:ea typeface="Times New Roman"/>
                <a:cs typeface="Times New Roman"/>
                <a:sym typeface="Times New Roman"/>
              </a:rPr>
              <a:t>In this project, a detailed analysis is performed to address important business questions such as whether senior citizens churn more, how tenure influences churn behavior, which contract types have the highest churn rates, and whether monthly billing impacts customer decisions. Additionally, the analysis explores which services are associated with higher churn, enabling better understanding of customer preferences and risks.</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None/>
            </a:pPr>
            <a:r>
              <a:rPr lang="en-GB" sz="1500">
                <a:solidFill>
                  <a:schemeClr val="dk1"/>
                </a:solidFill>
                <a:latin typeface="Times New Roman"/>
                <a:ea typeface="Times New Roman"/>
                <a:cs typeface="Times New Roman"/>
                <a:sym typeface="Times New Roman"/>
              </a:rPr>
              <a:t>To support these insights, several visualizations are created, including churn distribution to identify class imbalance, tenure vs churn, monthly charges vs churn, contract type vs churn, internet service vs churn, and a correlation heatmap. These visual tools provide a comprehensive view of customer behavior and play a vital role in building effective predictive models.</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t/>
            </a:r>
            <a:endParaRPr sz="1500">
              <a:solidFill>
                <a:schemeClr val="dk2"/>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500">
              <a:solidFill>
                <a:schemeClr val="dk2"/>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8"/>
          <p:cNvPicPr preferRelativeResize="0"/>
          <p:nvPr/>
        </p:nvPicPr>
        <p:blipFill>
          <a:blip r:embed="rId3">
            <a:alphaModFix/>
          </a:blip>
          <a:stretch>
            <a:fillRect/>
          </a:stretch>
        </p:blipFill>
        <p:spPr>
          <a:xfrm>
            <a:off x="-33350" y="88000"/>
            <a:ext cx="2976051" cy="2312350"/>
          </a:xfrm>
          <a:prstGeom prst="rect">
            <a:avLst/>
          </a:prstGeom>
          <a:noFill/>
          <a:ln>
            <a:noFill/>
          </a:ln>
        </p:spPr>
      </p:pic>
      <p:pic>
        <p:nvPicPr>
          <p:cNvPr id="94" name="Google Shape;94;p18"/>
          <p:cNvPicPr preferRelativeResize="0"/>
          <p:nvPr/>
        </p:nvPicPr>
        <p:blipFill>
          <a:blip r:embed="rId4">
            <a:alphaModFix/>
          </a:blip>
          <a:stretch>
            <a:fillRect/>
          </a:stretch>
        </p:blipFill>
        <p:spPr>
          <a:xfrm>
            <a:off x="3706824" y="60700"/>
            <a:ext cx="3112274" cy="2366951"/>
          </a:xfrm>
          <a:prstGeom prst="rect">
            <a:avLst/>
          </a:prstGeom>
          <a:noFill/>
          <a:ln>
            <a:noFill/>
          </a:ln>
        </p:spPr>
      </p:pic>
      <p:pic>
        <p:nvPicPr>
          <p:cNvPr id="95" name="Google Shape;95;p18"/>
          <p:cNvPicPr preferRelativeResize="0"/>
          <p:nvPr/>
        </p:nvPicPr>
        <p:blipFill>
          <a:blip r:embed="rId5">
            <a:alphaModFix/>
          </a:blip>
          <a:stretch>
            <a:fillRect/>
          </a:stretch>
        </p:blipFill>
        <p:spPr>
          <a:xfrm>
            <a:off x="152400" y="2552750"/>
            <a:ext cx="4082449" cy="2438350"/>
          </a:xfrm>
          <a:prstGeom prst="rect">
            <a:avLst/>
          </a:prstGeom>
          <a:noFill/>
          <a:ln>
            <a:noFill/>
          </a:ln>
        </p:spPr>
      </p:pic>
      <p:pic>
        <p:nvPicPr>
          <p:cNvPr id="96" name="Google Shape;96;p18"/>
          <p:cNvPicPr preferRelativeResize="0"/>
          <p:nvPr/>
        </p:nvPicPr>
        <p:blipFill>
          <a:blip r:embed="rId6">
            <a:alphaModFix/>
          </a:blip>
          <a:stretch>
            <a:fillRect/>
          </a:stretch>
        </p:blipFill>
        <p:spPr>
          <a:xfrm>
            <a:off x="4609975" y="2513350"/>
            <a:ext cx="4359901" cy="25335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9"/>
          <p:cNvPicPr preferRelativeResize="0"/>
          <p:nvPr/>
        </p:nvPicPr>
        <p:blipFill>
          <a:blip r:embed="rId3">
            <a:alphaModFix/>
          </a:blip>
          <a:stretch>
            <a:fillRect/>
          </a:stretch>
        </p:blipFill>
        <p:spPr>
          <a:xfrm>
            <a:off x="152400" y="152400"/>
            <a:ext cx="3073957" cy="2419350"/>
          </a:xfrm>
          <a:prstGeom prst="rect">
            <a:avLst/>
          </a:prstGeom>
          <a:noFill/>
          <a:ln>
            <a:noFill/>
          </a:ln>
        </p:spPr>
      </p:pic>
      <p:pic>
        <p:nvPicPr>
          <p:cNvPr id="102" name="Google Shape;102;p19"/>
          <p:cNvPicPr preferRelativeResize="0"/>
          <p:nvPr/>
        </p:nvPicPr>
        <p:blipFill>
          <a:blip r:embed="rId4">
            <a:alphaModFix/>
          </a:blip>
          <a:stretch>
            <a:fillRect/>
          </a:stretch>
        </p:blipFill>
        <p:spPr>
          <a:xfrm>
            <a:off x="4976775" y="152400"/>
            <a:ext cx="3759491" cy="2419350"/>
          </a:xfrm>
          <a:prstGeom prst="rect">
            <a:avLst/>
          </a:prstGeom>
          <a:noFill/>
          <a:ln>
            <a:noFill/>
          </a:ln>
        </p:spPr>
      </p:pic>
      <p:pic>
        <p:nvPicPr>
          <p:cNvPr id="103" name="Google Shape;103;p19"/>
          <p:cNvPicPr preferRelativeResize="0"/>
          <p:nvPr/>
        </p:nvPicPr>
        <p:blipFill>
          <a:blip r:embed="rId5">
            <a:alphaModFix/>
          </a:blip>
          <a:stretch>
            <a:fillRect/>
          </a:stretch>
        </p:blipFill>
        <p:spPr>
          <a:xfrm>
            <a:off x="2486550" y="2571750"/>
            <a:ext cx="3522683" cy="2266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p:cNvPicPr preferRelativeResize="0"/>
          <p:nvPr/>
        </p:nvPicPr>
        <p:blipFill>
          <a:blip r:embed="rId3">
            <a:alphaModFix/>
          </a:blip>
          <a:stretch>
            <a:fillRect/>
          </a:stretch>
        </p:blipFill>
        <p:spPr>
          <a:xfrm>
            <a:off x="152400" y="152400"/>
            <a:ext cx="8700751" cy="4838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1"/>
          <p:cNvPicPr preferRelativeResize="0"/>
          <p:nvPr/>
        </p:nvPicPr>
        <p:blipFill>
          <a:blip r:embed="rId3">
            <a:alphaModFix/>
          </a:blip>
          <a:stretch>
            <a:fillRect/>
          </a:stretch>
        </p:blipFill>
        <p:spPr>
          <a:xfrm>
            <a:off x="891525" y="219600"/>
            <a:ext cx="7360950" cy="4704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nvSpPr>
        <p:spPr>
          <a:xfrm>
            <a:off x="125050" y="91700"/>
            <a:ext cx="8970000" cy="50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2"/>
                </a:solidFill>
                <a:latin typeface="Times New Roman"/>
                <a:ea typeface="Times New Roman"/>
                <a:cs typeface="Times New Roman"/>
                <a:sym typeface="Times New Roman"/>
              </a:rPr>
              <a:t>Feature Engineering:</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Feature Engineering is a vital step in the machine learning process that focuses on transforming raw data into meaningful features that improve model performance and interpretability. It involves creating new variables, modifying existing ones, and incorporating domain knowledge to better capture customer behavior and business context.</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500">
              <a:solidFill>
                <a:schemeClr val="dk2"/>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latin typeface="Times New Roman"/>
                <a:ea typeface="Times New Roman"/>
                <a:cs typeface="Times New Roman"/>
                <a:sym typeface="Times New Roman"/>
              </a:rPr>
              <a:t>In this project, several meaningful features are engineered to enhance churn prediction. For instance, </a:t>
            </a:r>
            <a:r>
              <a:rPr b="1" lang="en-GB" sz="1500">
                <a:latin typeface="Times New Roman"/>
                <a:ea typeface="Times New Roman"/>
                <a:cs typeface="Times New Roman"/>
                <a:sym typeface="Times New Roman"/>
              </a:rPr>
              <a:t>AvgMonthlySpend</a:t>
            </a:r>
            <a:r>
              <a:rPr lang="en-GB" sz="1500">
                <a:latin typeface="Times New Roman"/>
                <a:ea typeface="Times New Roman"/>
                <a:cs typeface="Times New Roman"/>
                <a:sym typeface="Times New Roman"/>
              </a:rPr>
              <a:t> is calculated as TotalCharges divided by tenure to understand spending patterns over time. Customers are segmented into </a:t>
            </a:r>
            <a:r>
              <a:rPr b="1" lang="en-GB" sz="1500">
                <a:latin typeface="Times New Roman"/>
                <a:ea typeface="Times New Roman"/>
                <a:cs typeface="Times New Roman"/>
                <a:sym typeface="Times New Roman"/>
              </a:rPr>
              <a:t>tenure buckets</a:t>
            </a:r>
            <a:r>
              <a:rPr lang="en-GB" sz="1500">
                <a:latin typeface="Times New Roman"/>
                <a:ea typeface="Times New Roman"/>
                <a:cs typeface="Times New Roman"/>
                <a:sym typeface="Times New Roman"/>
              </a:rPr>
              <a:t> such as New, Medium, and Loyal to capture lifecycle stages. A </a:t>
            </a:r>
            <a:r>
              <a:rPr b="1" lang="en-GB" sz="1500">
                <a:latin typeface="Times New Roman"/>
                <a:ea typeface="Times New Roman"/>
                <a:cs typeface="Times New Roman"/>
                <a:sym typeface="Times New Roman"/>
              </a:rPr>
              <a:t>service count</a:t>
            </a:r>
            <a:r>
              <a:rPr lang="en-GB" sz="1500">
                <a:latin typeface="Times New Roman"/>
                <a:ea typeface="Times New Roman"/>
                <a:cs typeface="Times New Roman"/>
                <a:sym typeface="Times New Roman"/>
              </a:rPr>
              <a:t> feature is created to represent the number of services subscribed by each customer, while </a:t>
            </a:r>
            <a:r>
              <a:rPr b="1" lang="en-GB" sz="1500">
                <a:latin typeface="Times New Roman"/>
                <a:ea typeface="Times New Roman"/>
                <a:cs typeface="Times New Roman"/>
                <a:sym typeface="Times New Roman"/>
              </a:rPr>
              <a:t>contract duration flags</a:t>
            </a:r>
            <a:r>
              <a:rPr lang="en-GB" sz="1500">
                <a:latin typeface="Times New Roman"/>
                <a:ea typeface="Times New Roman"/>
                <a:cs typeface="Times New Roman"/>
                <a:sym typeface="Times New Roman"/>
              </a:rPr>
              <a:t> help distinguish between short-term and long-term commitments. Additionally, a </a:t>
            </a:r>
            <a:r>
              <a:rPr b="1" lang="en-GB" sz="1500">
                <a:latin typeface="Times New Roman"/>
                <a:ea typeface="Times New Roman"/>
                <a:cs typeface="Times New Roman"/>
                <a:sym typeface="Times New Roman"/>
              </a:rPr>
              <a:t>high-value customer indicator</a:t>
            </a:r>
            <a:r>
              <a:rPr lang="en-GB" sz="1500">
                <a:latin typeface="Times New Roman"/>
                <a:ea typeface="Times New Roman"/>
                <a:cs typeface="Times New Roman"/>
                <a:sym typeface="Times New Roman"/>
              </a:rPr>
              <a:t> is introduced to identify customers contributing significantly to revenue. Each of these engineered features is designed with clear business relevance, enabling better insights and more effective decision-making.</a:t>
            </a:r>
            <a:endParaRPr sz="1500">
              <a:solidFill>
                <a:schemeClr val="dk2"/>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8"/>
                                        </p:tgtEl>
                                        <p:attrNameLst>
                                          <p:attrName>style.visibility</p:attrName>
                                        </p:attrNameLst>
                                      </p:cBhvr>
                                      <p:to>
                                        <p:strVal val="visible"/>
                                      </p:to>
                                    </p:set>
                                    <p:anim calcmode="lin" valueType="num">
                                      <p:cBhvr additive="base">
                                        <p:cTn dur="1000"/>
                                        <p:tgtEl>
                                          <p:spTgt spid="11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nvSpPr>
        <p:spPr>
          <a:xfrm>
            <a:off x="0" y="58350"/>
            <a:ext cx="9094800" cy="504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2"/>
                </a:solidFill>
                <a:latin typeface="Times New Roman"/>
                <a:ea typeface="Times New Roman"/>
                <a:cs typeface="Times New Roman"/>
                <a:sym typeface="Times New Roman"/>
              </a:rPr>
              <a:t>Handling Class Imbalance:</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500">
              <a:solidFill>
                <a:schemeClr val="dk2"/>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Handling class imbalance is a critical step in building a reliable churn prediction model, especially when the number of churned customers is significantly lower than non-churned ones. If not addressed properly, the model may become biased toward the majority class and fail to correctly identify customers who are likely to churn. Therefore, techniques such as applying class weights or using resampling methods like oversampling (e.g., SMOTE) and undersampling are employed to balance the dataset and improve model learning.</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In this project, special attention is given to evaluation metrics beyond simple accuracy, as accuracy alone can be misleading in imbalanced scenarios. Instead, metrics such as recall, precision, F1-score, and ROC-AUC are prioritized to ensure the model effectively identifies churn cases while maintaining overall performance. This approach enables the development of a more robust and business-relevant model that can accurately detect high-risk customers and support proactive retention strategie</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nvSpPr>
        <p:spPr>
          <a:xfrm>
            <a:off x="133375" y="183400"/>
            <a:ext cx="9053100" cy="47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2"/>
                </a:solidFill>
                <a:latin typeface="Times New Roman"/>
                <a:ea typeface="Times New Roman"/>
                <a:cs typeface="Times New Roman"/>
                <a:sym typeface="Times New Roman"/>
              </a:rPr>
              <a:t>Random Forest : </a:t>
            </a:r>
            <a:endParaRPr b="1" sz="20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b="1" sz="20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Model Evaluation (Validation Set):</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Precision: 0.4621</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Recall:    0.4207</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F1-Score:  0.4404</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ROC-AUC:   0.4902</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Classification Report:</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              precision    recall  f1-score   support</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           0       0.48      0.52      0.50       298</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           1       0.46      0.42      0.44       290</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    accuracy                          </a:t>
            </a:r>
            <a:r>
              <a:rPr b="1" lang="en-GB" sz="1200">
                <a:solidFill>
                  <a:schemeClr val="dk1"/>
                </a:solidFill>
                <a:latin typeface="Times New Roman"/>
                <a:ea typeface="Times New Roman"/>
                <a:cs typeface="Times New Roman"/>
                <a:sym typeface="Times New Roman"/>
              </a:rPr>
              <a:t> 0.47  </a:t>
            </a:r>
            <a:r>
              <a:rPr lang="en-GB" sz="1200">
                <a:solidFill>
                  <a:schemeClr val="dk1"/>
                </a:solidFill>
                <a:latin typeface="Times New Roman"/>
                <a:ea typeface="Times New Roman"/>
                <a:cs typeface="Times New Roman"/>
                <a:sym typeface="Times New Roman"/>
              </a:rPr>
              <a:t>     588</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   macro avg       0.47      0.47      0.47       588</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weighted avg       0.47      0.47      0.47       588</a:t>
            </a:r>
            <a:endParaRPr sz="1200">
              <a:solidFill>
                <a:schemeClr val="dk1"/>
              </a:solidFill>
              <a:latin typeface="Times New Roman"/>
              <a:ea typeface="Times New Roman"/>
              <a:cs typeface="Times New Roman"/>
              <a:sym typeface="Times New Roman"/>
            </a:endParaRPr>
          </a:p>
        </p:txBody>
      </p:sp>
      <p:pic>
        <p:nvPicPr>
          <p:cNvPr id="129" name="Google Shape;129;p24"/>
          <p:cNvPicPr preferRelativeResize="0"/>
          <p:nvPr/>
        </p:nvPicPr>
        <p:blipFill>
          <a:blip r:embed="rId3">
            <a:alphaModFix/>
          </a:blip>
          <a:stretch>
            <a:fillRect/>
          </a:stretch>
        </p:blipFill>
        <p:spPr>
          <a:xfrm>
            <a:off x="4798625" y="550198"/>
            <a:ext cx="4002899" cy="3084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1000"/>
                                        <p:tgtEl>
                                          <p:spTgt spid="12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nvSpPr>
        <p:spPr>
          <a:xfrm>
            <a:off x="207900" y="195900"/>
            <a:ext cx="8728200" cy="4751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GB" sz="2000">
                <a:solidFill>
                  <a:schemeClr val="dk1"/>
                </a:solidFill>
                <a:latin typeface="Times New Roman"/>
                <a:ea typeface="Times New Roman"/>
                <a:cs typeface="Times New Roman"/>
                <a:sym typeface="Times New Roman"/>
              </a:rPr>
              <a:t>LogisticRegression:</a:t>
            </a:r>
            <a:endParaRPr b="1" sz="20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Logistic Regression Baseline: Classification Report</a:t>
            </a:r>
            <a:r>
              <a:rPr lang="en-GB" sz="1500">
                <a:solidFill>
                  <a:schemeClr val="dk1"/>
                </a:solidFill>
                <a:latin typeface="Times New Roman"/>
                <a:ea typeface="Times New Roman"/>
                <a:cs typeface="Times New Roman"/>
                <a:sym typeface="Times New Roman"/>
              </a:rPr>
              <a:t> </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              precision    recall  f1-score   support</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        </a:t>
            </a:r>
            <a:r>
              <a:rPr lang="en-GB" sz="1500">
                <a:solidFill>
                  <a:schemeClr val="dk1"/>
                </a:solidFill>
                <a:latin typeface="Times New Roman"/>
                <a:ea typeface="Times New Roman"/>
                <a:cs typeface="Times New Roman"/>
                <a:sym typeface="Times New Roman"/>
              </a:rPr>
              <a:t> </a:t>
            </a:r>
            <a:r>
              <a:rPr lang="en-GB" sz="1500">
                <a:solidFill>
                  <a:schemeClr val="dk1"/>
                </a:solidFill>
                <a:latin typeface="Times New Roman"/>
                <a:ea typeface="Times New Roman"/>
                <a:cs typeface="Times New Roman"/>
                <a:sym typeface="Times New Roman"/>
              </a:rPr>
              <a:t>  0       0.48      0.47      0.48       298</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           1       0.47      0.48      0.48       290</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    accuracy                          </a:t>
            </a:r>
            <a:r>
              <a:rPr b="1" lang="en-GB" sz="1500">
                <a:solidFill>
                  <a:schemeClr val="dk1"/>
                </a:solidFill>
                <a:latin typeface="Times New Roman"/>
                <a:ea typeface="Times New Roman"/>
                <a:cs typeface="Times New Roman"/>
                <a:sym typeface="Times New Roman"/>
              </a:rPr>
              <a:t> 0.48    </a:t>
            </a:r>
            <a:r>
              <a:rPr lang="en-GB" sz="1500">
                <a:solidFill>
                  <a:schemeClr val="dk1"/>
                </a:solidFill>
                <a:latin typeface="Times New Roman"/>
                <a:ea typeface="Times New Roman"/>
                <a:cs typeface="Times New Roman"/>
                <a:sym typeface="Times New Roman"/>
              </a:rPr>
              <a:t>   588</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   macro avg       0.48      0.48      0.48       588</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weighted avg       0.48      0.48      0.48       588</a:t>
            </a:r>
            <a:endParaRPr b="1"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pic>
        <p:nvPicPr>
          <p:cNvPr id="135" name="Google Shape;135;p25"/>
          <p:cNvPicPr preferRelativeResize="0"/>
          <p:nvPr/>
        </p:nvPicPr>
        <p:blipFill>
          <a:blip r:embed="rId3">
            <a:alphaModFix/>
          </a:blip>
          <a:stretch>
            <a:fillRect/>
          </a:stretch>
        </p:blipFill>
        <p:spPr>
          <a:xfrm>
            <a:off x="4902525" y="395972"/>
            <a:ext cx="3840651" cy="2959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1000"/>
                                        <p:tgtEl>
                                          <p:spTgt spid="13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nvSpPr>
        <p:spPr>
          <a:xfrm>
            <a:off x="50025" y="108375"/>
            <a:ext cx="8911500" cy="48102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GB" sz="2000">
                <a:solidFill>
                  <a:schemeClr val="dk1"/>
                </a:solidFill>
                <a:latin typeface="Times New Roman"/>
                <a:ea typeface="Times New Roman"/>
                <a:cs typeface="Times New Roman"/>
                <a:sym typeface="Times New Roman"/>
              </a:rPr>
              <a:t>GradientBoostingClassifier:</a:t>
            </a:r>
            <a:endParaRPr b="1" sz="20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lt1"/>
                </a:solidFill>
                <a:latin typeface="Times New Roman"/>
                <a:ea typeface="Times New Roman"/>
                <a:cs typeface="Times New Roman"/>
                <a:sym typeface="Times New Roman"/>
              </a:rPr>
              <a:t>-</a:t>
            </a:r>
            <a:r>
              <a:rPr lang="en-GB" sz="1500">
                <a:solidFill>
                  <a:schemeClr val="dk1"/>
                </a:solidFill>
                <a:latin typeface="Times New Roman"/>
                <a:ea typeface="Times New Roman"/>
                <a:cs typeface="Times New Roman"/>
                <a:sym typeface="Times New Roman"/>
              </a:rPr>
              <a:t>Gradient Boosting Classifier</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              precision    recall  f1-score   support</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           0       0.49      0.49      0.49       298</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           1       0.47      0.48      0.48       290</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    accuracy                          </a:t>
            </a:r>
            <a:r>
              <a:rPr b="1" lang="en-GB" sz="1500">
                <a:solidFill>
                  <a:schemeClr val="dk1"/>
                </a:solidFill>
                <a:latin typeface="Times New Roman"/>
                <a:ea typeface="Times New Roman"/>
                <a:cs typeface="Times New Roman"/>
                <a:sym typeface="Times New Roman"/>
              </a:rPr>
              <a:t> 0.48     </a:t>
            </a:r>
            <a:r>
              <a:rPr lang="en-GB" sz="1500">
                <a:solidFill>
                  <a:schemeClr val="dk1"/>
                </a:solidFill>
                <a:latin typeface="Times New Roman"/>
                <a:ea typeface="Times New Roman"/>
                <a:cs typeface="Times New Roman"/>
                <a:sym typeface="Times New Roman"/>
              </a:rPr>
              <a:t>  588</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   macro avg       0.48      0.48      0.48       588</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weighted avg       0.48      0.48      0.48       588</a:t>
            </a:r>
            <a:endParaRPr b="1"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Roboto"/>
              <a:ea typeface="Roboto"/>
              <a:cs typeface="Roboto"/>
              <a:sym typeface="Roboto"/>
            </a:endParaRPr>
          </a:p>
        </p:txBody>
      </p:sp>
      <p:pic>
        <p:nvPicPr>
          <p:cNvPr id="141" name="Google Shape;141;p26"/>
          <p:cNvPicPr preferRelativeResize="0"/>
          <p:nvPr/>
        </p:nvPicPr>
        <p:blipFill>
          <a:blip r:embed="rId3">
            <a:alphaModFix/>
          </a:blip>
          <a:stretch>
            <a:fillRect/>
          </a:stretch>
        </p:blipFill>
        <p:spPr>
          <a:xfrm>
            <a:off x="5022925" y="2083897"/>
            <a:ext cx="3570175" cy="2751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1"/>
                                        </p:tgtEl>
                                        <p:attrNameLst>
                                          <p:attrName>style.visibility</p:attrName>
                                        </p:attrNameLst>
                                      </p:cBhvr>
                                      <p:to>
                                        <p:strVal val="visible"/>
                                      </p:to>
                                    </p:set>
                                    <p:anim calcmode="lin" valueType="num">
                                      <p:cBhvr additive="base">
                                        <p:cTn dur="1000"/>
                                        <p:tgtEl>
                                          <p:spTgt spid="14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nvSpPr>
        <p:spPr>
          <a:xfrm>
            <a:off x="100025" y="91650"/>
            <a:ext cx="8728200" cy="48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2"/>
                </a:solidFill>
                <a:latin typeface="Times New Roman"/>
                <a:ea typeface="Times New Roman"/>
                <a:cs typeface="Times New Roman"/>
                <a:sym typeface="Times New Roman"/>
              </a:rPr>
              <a:t> XGBoost:</a:t>
            </a:r>
            <a:endParaRPr b="1" sz="20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2"/>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GB" sz="1500">
                <a:solidFill>
                  <a:schemeClr val="dk1"/>
                </a:solidFill>
                <a:latin typeface="Times New Roman"/>
                <a:ea typeface="Times New Roman"/>
                <a:cs typeface="Times New Roman"/>
                <a:sym typeface="Times New Roman"/>
              </a:rPr>
              <a:t>XGBoost Classifier </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GB" sz="1500">
                <a:solidFill>
                  <a:schemeClr val="dk1"/>
                </a:solidFill>
                <a:latin typeface="Times New Roman"/>
                <a:ea typeface="Times New Roman"/>
                <a:cs typeface="Times New Roman"/>
                <a:sym typeface="Times New Roman"/>
              </a:rPr>
              <a:t>              precision    recall  f1-score   support</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GB" sz="1500">
                <a:solidFill>
                  <a:schemeClr val="dk1"/>
                </a:solidFill>
                <a:latin typeface="Times New Roman"/>
                <a:ea typeface="Times New Roman"/>
                <a:cs typeface="Times New Roman"/>
                <a:sym typeface="Times New Roman"/>
              </a:rPr>
              <a:t>           0       0.47      0.41      0.44       298</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GB" sz="1500">
                <a:solidFill>
                  <a:schemeClr val="dk1"/>
                </a:solidFill>
                <a:latin typeface="Times New Roman"/>
                <a:ea typeface="Times New Roman"/>
                <a:cs typeface="Times New Roman"/>
                <a:sym typeface="Times New Roman"/>
              </a:rPr>
              <a:t>           1       0.46      0.52      0.49       290</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GB" sz="1500">
                <a:solidFill>
                  <a:schemeClr val="dk1"/>
                </a:solidFill>
                <a:latin typeface="Times New Roman"/>
                <a:ea typeface="Times New Roman"/>
                <a:cs typeface="Times New Roman"/>
                <a:sym typeface="Times New Roman"/>
              </a:rPr>
              <a:t>    accuracy                          </a:t>
            </a:r>
            <a:r>
              <a:rPr b="1" lang="en-GB" sz="1500">
                <a:solidFill>
                  <a:schemeClr val="dk1"/>
                </a:solidFill>
                <a:latin typeface="Times New Roman"/>
                <a:ea typeface="Times New Roman"/>
                <a:cs typeface="Times New Roman"/>
                <a:sym typeface="Times New Roman"/>
              </a:rPr>
              <a:t> 0.46   </a:t>
            </a:r>
            <a:r>
              <a:rPr lang="en-GB" sz="1500">
                <a:solidFill>
                  <a:schemeClr val="dk1"/>
                </a:solidFill>
                <a:latin typeface="Times New Roman"/>
                <a:ea typeface="Times New Roman"/>
                <a:cs typeface="Times New Roman"/>
                <a:sym typeface="Times New Roman"/>
              </a:rPr>
              <a:t>    588</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GB" sz="1500">
                <a:solidFill>
                  <a:schemeClr val="dk1"/>
                </a:solidFill>
                <a:latin typeface="Times New Roman"/>
                <a:ea typeface="Times New Roman"/>
                <a:cs typeface="Times New Roman"/>
                <a:sym typeface="Times New Roman"/>
              </a:rPr>
              <a:t>   macro avg       0.46      0.46      0.46       588</a:t>
            </a:r>
            <a:endParaRPr sz="1500">
              <a:solidFill>
                <a:schemeClr val="dk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GB" sz="1500">
                <a:solidFill>
                  <a:schemeClr val="dk1"/>
                </a:solidFill>
                <a:latin typeface="Times New Roman"/>
                <a:ea typeface="Times New Roman"/>
                <a:cs typeface="Times New Roman"/>
                <a:sym typeface="Times New Roman"/>
              </a:rPr>
              <a:t>weighted avg       0.46      0.46      0.46       588</a:t>
            </a:r>
            <a:endParaRPr b="1" sz="1500">
              <a:solidFill>
                <a:schemeClr val="dk1"/>
              </a:solidFill>
              <a:latin typeface="Times New Roman"/>
              <a:ea typeface="Times New Roman"/>
              <a:cs typeface="Times New Roman"/>
              <a:sym typeface="Times New Roman"/>
            </a:endParaRPr>
          </a:p>
        </p:txBody>
      </p:sp>
      <p:pic>
        <p:nvPicPr>
          <p:cNvPr id="147" name="Google Shape;147;p27"/>
          <p:cNvPicPr preferRelativeResize="0"/>
          <p:nvPr/>
        </p:nvPicPr>
        <p:blipFill>
          <a:blip r:embed="rId3">
            <a:alphaModFix/>
          </a:blip>
          <a:stretch>
            <a:fillRect/>
          </a:stretch>
        </p:blipFill>
        <p:spPr>
          <a:xfrm>
            <a:off x="5226875" y="2217450"/>
            <a:ext cx="3601350" cy="2717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7"/>
                                        </p:tgtEl>
                                        <p:attrNameLst>
                                          <p:attrName>style.visibility</p:attrName>
                                        </p:attrNameLst>
                                      </p:cBhvr>
                                      <p:to>
                                        <p:strVal val="visible"/>
                                      </p:to>
                                    </p:set>
                                    <p:anim calcmode="lin" valueType="num">
                                      <p:cBhvr additive="base">
                                        <p:cTn dur="1000"/>
                                        <p:tgtEl>
                                          <p:spTgt spid="14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nvSpPr>
        <p:spPr>
          <a:xfrm>
            <a:off x="166725" y="158400"/>
            <a:ext cx="8869800" cy="47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2"/>
                </a:solidFill>
                <a:latin typeface="Times New Roman"/>
                <a:ea typeface="Times New Roman"/>
                <a:cs typeface="Times New Roman"/>
                <a:sym typeface="Times New Roman"/>
              </a:rPr>
              <a:t>Threshold Optimization:</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solidFill>
                  <a:schemeClr val="dk1"/>
                </a:solidFill>
                <a:latin typeface="Times New Roman"/>
                <a:ea typeface="Times New Roman"/>
                <a:cs typeface="Times New Roman"/>
                <a:sym typeface="Times New Roman"/>
              </a:rPr>
              <a:t>Threshold tuning allows control over the balance between identifying more potential churners and avoiding unnecessary retention efforts. For example, lowering the threshold can help capture more at-risk customers when churn is costly, while a higher threshold can reduce spending on incentives. This brief adjustment makes the model more practical, cost-effective, and aligned with real-world decision-making.</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500">
              <a:solidFill>
                <a:schemeClr val="dk2"/>
              </a:solidFill>
              <a:latin typeface="Times New Roman"/>
              <a:ea typeface="Times New Roman"/>
              <a:cs typeface="Times New Roman"/>
              <a:sym typeface="Times New Roman"/>
            </a:endParaRPr>
          </a:p>
        </p:txBody>
      </p:sp>
      <p:pic>
        <p:nvPicPr>
          <p:cNvPr id="153" name="Google Shape;153;p28"/>
          <p:cNvPicPr preferRelativeResize="0"/>
          <p:nvPr/>
        </p:nvPicPr>
        <p:blipFill>
          <a:blip r:embed="rId3">
            <a:alphaModFix/>
          </a:blip>
          <a:stretch>
            <a:fillRect/>
          </a:stretch>
        </p:blipFill>
        <p:spPr>
          <a:xfrm>
            <a:off x="2038212" y="1718250"/>
            <a:ext cx="5126826" cy="3342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1000"/>
                                        <p:tgtEl>
                                          <p:spTgt spid="15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nvSpPr>
        <p:spPr>
          <a:xfrm>
            <a:off x="333450" y="191725"/>
            <a:ext cx="8227800" cy="45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1"/>
                </a:solidFill>
                <a:latin typeface="Times New Roman"/>
                <a:ea typeface="Times New Roman"/>
                <a:cs typeface="Times New Roman"/>
                <a:sym typeface="Times New Roman"/>
              </a:rPr>
              <a:t>Model Explainability:</a:t>
            </a:r>
            <a:endParaRPr b="1"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GB" sz="1500">
                <a:solidFill>
                  <a:schemeClr val="dk1"/>
                </a:solidFill>
                <a:latin typeface="Times New Roman"/>
                <a:ea typeface="Times New Roman"/>
                <a:cs typeface="Times New Roman"/>
                <a:sym typeface="Times New Roman"/>
              </a:rPr>
              <a:t>SHAP Global Feature Importance:</a:t>
            </a:r>
            <a:endParaRPr sz="1500">
              <a:solidFill>
                <a:schemeClr val="dk1"/>
              </a:solidFill>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Identifies the overall impact of each feature on churn prediction across all customers</a:t>
            </a:r>
            <a:endParaRPr sz="1500">
              <a:solidFill>
                <a:schemeClr val="dk1"/>
              </a:solidFill>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Highlights the most influential drivers of churn (e.g., contract type, tenure, monthly charges)</a:t>
            </a:r>
            <a:endParaRPr sz="1500">
              <a:solidFill>
                <a:schemeClr val="dk1"/>
              </a:solidFill>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Helps understand general customer behavior patterns at a business level</a:t>
            </a:r>
            <a:endParaRPr sz="1500">
              <a:solidFill>
                <a:schemeClr val="dk1"/>
              </a:solidFill>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Enables prioritization of key factors for strategic decision-making</a:t>
            </a:r>
            <a:endParaRPr sz="1500">
              <a:solidFill>
                <a:schemeClr val="dk1"/>
              </a:solidFill>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Useful for communicating insights to stakeholders in a simplified manner</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500">
              <a:solidFill>
                <a:schemeClr val="dk2"/>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GB" sz="1500">
                <a:latin typeface="Times New Roman"/>
                <a:ea typeface="Times New Roman"/>
                <a:cs typeface="Times New Roman"/>
                <a:sym typeface="Times New Roman"/>
              </a:rPr>
              <a:t>SHAP Local Explanations (Per Customer):</a:t>
            </a:r>
            <a:endParaRPr sz="15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500">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Explains individual predictions by showing how each feature contributes to a specific customer’s churn risk</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Identifies personalized reasons for why a customer may churn</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Helps customer support and marketing teams take targeted retention actions</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Provides transparency and trust in model predictions</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Useful for creating customized offers based on individual customer profiles</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500">
              <a:solidFill>
                <a:schemeClr val="dk2"/>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nvSpPr>
        <p:spPr>
          <a:xfrm>
            <a:off x="116700" y="125050"/>
            <a:ext cx="8928300" cy="488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chemeClr val="dk1"/>
                </a:solidFill>
                <a:latin typeface="Times New Roman"/>
                <a:ea typeface="Times New Roman"/>
                <a:cs typeface="Times New Roman"/>
                <a:sym typeface="Times New Roman"/>
              </a:rPr>
              <a:t>Streamlit dashboard:</a:t>
            </a:r>
            <a:endParaRPr b="1" sz="20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GB" sz="1500">
                <a:solidFill>
                  <a:schemeClr val="dk1"/>
                </a:solidFill>
                <a:latin typeface="Times New Roman"/>
                <a:ea typeface="Times New Roman"/>
                <a:cs typeface="Times New Roman"/>
                <a:sym typeface="Times New Roman"/>
              </a:rPr>
              <a:t>The Streamlit application serves as an interactive front-end for the churn prediction model, allowing users to easily input customer details and receive real-time predictions. It provides a user-friendly interface to visualize churn probability along with key insights derived from the model.</a:t>
            </a:r>
            <a:endParaRPr sz="15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GB" sz="1500">
                <a:solidFill>
                  <a:schemeClr val="dk1"/>
                </a:solidFill>
                <a:latin typeface="Times New Roman"/>
                <a:ea typeface="Times New Roman"/>
                <a:cs typeface="Times New Roman"/>
                <a:sym typeface="Times New Roman"/>
              </a:rPr>
              <a:t>Additionally, the app can display explainable AI outputs such as SHAP values, helping users understand the reasons behind each prediction. This enables business teams to make quick, data-driven decisions and take proactive actions to retain high-risk customers.</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5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